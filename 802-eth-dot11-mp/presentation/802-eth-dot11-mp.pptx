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4206240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YANG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8992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0">
                <a:solidFill>
                  <a:srgbClr val="C9DAF0"/>
                </a:solidFill>
                <a:latin typeface="Calibri"/>
              </a:rPr>
              <a:t>NETCONF for the core. CORECONF for the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78992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0">
                <a:solidFill>
                  <a:srgbClr val="9DB4CF"/>
                </a:solidFill>
                <a:latin typeface="Calibri"/>
              </a:rPr>
              <a:t>An 802.3 switch → 802.11 access point → client-device walkthrough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" y="5577840"/>
            <a:ext cx="3291840" cy="640080"/>
          </a:xfrm>
          <a:prstGeom prst="roundRect">
            <a:avLst/>
          </a:prstGeom>
          <a:solidFill>
            <a:srgbClr val="E07A3C"/>
          </a:solidFill>
          <a:ln w="9525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NETCONF  •  RFC 6241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5577840"/>
            <a:ext cx="3291840" cy="640080"/>
          </a:xfrm>
          <a:prstGeom prst="roundRect">
            <a:avLst/>
          </a:prstGeom>
          <a:solidFill>
            <a:srgbClr val="6B4E9E"/>
          </a:solidFill>
          <a:ln w="9525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RESTCONF  •  RFC 8040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7527" y="5577840"/>
            <a:ext cx="3291840" cy="640080"/>
          </a:xfrm>
          <a:prstGeom prst="roundRect">
            <a:avLst/>
          </a:prstGeom>
          <a:solidFill>
            <a:srgbClr val="4A9D5B"/>
          </a:solidFill>
          <a:ln w="9525"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CORECONF  •  RFC 9254/9595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YANG models the data.  NETCONF moves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The data model is the contract; the protocol is the courier.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4206240"/>
          </a:xfrm>
          <a:prstGeom prst="roundRect">
            <a:avLst/>
          </a:prstGeom>
          <a:solidFill>
            <a:srgbClr val="E8EEF5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1828800" cy="502920"/>
          </a:xfrm>
          <a:prstGeom prst="round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20240"/>
            <a:ext cx="2743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Calibri"/>
              </a:rPr>
              <a:t>RFC 7950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A modeling language for configuration &amp; state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Modules, containers, lists, leaves, types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Constraints: ranges, patterns, must/when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Operational vs config data (config false)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Protocol-independent — one model, many wire formats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0" y="3337560"/>
            <a:ext cx="731520" cy="0"/>
          </a:xfrm>
          <a:prstGeom prst="line">
            <a:avLst/>
          </a:prstGeom>
          <a:ln w="5080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0" y="2926080"/>
            <a:ext cx="10058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serialized &amp;
carried by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45920"/>
            <a:ext cx="5120640" cy="4206240"/>
          </a:xfrm>
          <a:prstGeom prst="roundRect">
            <a:avLst/>
          </a:prstGeom>
          <a:solidFill>
            <a:srgbClr val="E8EEF5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858000" y="1920240"/>
            <a:ext cx="1828800" cy="502920"/>
          </a:xfrm>
          <a:prstGeom prst="roundRect">
            <a:avLst/>
          </a:prstGeom>
          <a:solidFill>
            <a:srgbClr val="E07A3C"/>
          </a:solidFill>
          <a:ln w="9525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NETCONF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920240"/>
            <a:ext cx="2743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Calibri"/>
              </a:rPr>
              <a:t>RFC 6241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6032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A protocol for configuring networks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XML-encoded RPCs over SSH (RFC 6242)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Datastores: running, candidate, startup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Operations: get, edit-config, commit, …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Reads/writes YANG-modeled data on a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5A6A7A"/>
                </a:solidFill>
                <a:latin typeface="Calibri"/>
              </a:rPr>
              <a:t>YANG was created so NETCONF (and later friends) had a formal, machine-readable model to encode and validate against.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802-eth-dot11-mp  •  NETCONF ↔ CORECONF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Three protocols, one YANG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Same semantics — different wire format, different transport, different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822960"/>
          </a:xfrm>
          <a:prstGeom prst="round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YANG  —  one data model (modules, containers, lists, leaves)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3611880" cy="36576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3611880" cy="640080"/>
          </a:xfrm>
          <a:prstGeom prst="rect">
            <a:avLst/>
          </a:prstGeom>
          <a:solidFill>
            <a:srgbClr val="E07A3C"/>
          </a:solidFill>
          <a:ln w="9525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NETCONF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3611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RFC 6241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8862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434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SSH / TLS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8006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&lt;rpc&gt; / &lt;edit-config&gt;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2578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Routers, switches, big iron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Payload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7150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Verbose, human-readable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834640"/>
            <a:ext cx="3611880" cy="36576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51960" y="2834640"/>
            <a:ext cx="3611880" cy="640080"/>
          </a:xfrm>
          <a:prstGeom prst="rect">
            <a:avLst/>
          </a:prstGeom>
          <a:solidFill>
            <a:srgbClr val="6B4E9E"/>
          </a:solidFill>
          <a:ln w="9525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RESTCONF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520440"/>
            <a:ext cx="3611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RFC 8040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Encoding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8862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JSON or XML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434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Transport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3434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HTTPS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006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8006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GET / POST / PUT / PATCH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2578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2578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Web / cloud controllers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7150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Payload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57150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REST-friendly, moderate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2834640"/>
            <a:ext cx="3611880" cy="36576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955280" y="2834640"/>
            <a:ext cx="3611880" cy="640080"/>
          </a:xfrm>
          <a:prstGeom prst="rect">
            <a:avLst/>
          </a:prstGeom>
          <a:solidFill>
            <a:srgbClr val="4A9D5B"/>
          </a:solidFill>
          <a:ln w="9525"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CORECONF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3520440"/>
            <a:ext cx="3611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Calibri"/>
              </a:rPr>
              <a:t>RFC 9254 / 9595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8862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Encoding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8862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CBOR with numeric SIDs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3434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Transport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3434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CoAP (over UDP)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8006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8006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GET / FETCH / iPATCH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2578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Target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2578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Constrained IoT devices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715000"/>
            <a:ext cx="1097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A6A7A"/>
                </a:solidFill>
                <a:latin typeface="Calibri"/>
              </a:rPr>
              <a:t>Payload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715000"/>
            <a:ext cx="2240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Tiny, binary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802-eth-dot11-mp  •  NETCONF ↔ CORECONF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NETCONF protocol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Client ⟶ Server:  XML RPCs over an SSH-secured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Client  (mgmt station)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51760" cy="548640"/>
          </a:xfrm>
          <a:prstGeom prst="round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Content  —  YANG-modeled config/state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26517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Operations  —  &lt;get&gt;, &lt;edit-config&gt;, &lt;commit&gt;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2651760" cy="548640"/>
          </a:xfrm>
          <a:prstGeom prst="roundRect">
            <a:avLst/>
          </a:prstGeom>
          <a:solidFill>
            <a:srgbClr val="E07A3C"/>
          </a:solidFill>
          <a:ln w="9525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Messages  —  &lt;rpc&gt; / &lt;rpc-reply&gt;  (XML)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40"/>
            <a:ext cx="2651760" cy="548640"/>
          </a:xfrm>
          <a:prstGeom prst="roundRect">
            <a:avLst/>
          </a:prstGeom>
          <a:solidFill>
            <a:srgbClr val="5A6A7A"/>
          </a:solidFill>
          <a:ln w="9525">
            <a:solidFill>
              <a:srgbClr val="5A6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Secure Transport  —  SSH (RFC 6242) / 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1371600"/>
            <a:ext cx="2651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Server  (switch / 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1295" y="1828800"/>
            <a:ext cx="2651760" cy="548640"/>
          </a:xfrm>
          <a:prstGeom prst="round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Content  —  YANG-modeled config/state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1295" y="2468880"/>
            <a:ext cx="26517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Operations  —  &lt;get&gt;, &lt;edit-config&gt;, &lt;commit&gt;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1295" y="3108960"/>
            <a:ext cx="2651760" cy="548640"/>
          </a:xfrm>
          <a:prstGeom prst="roundRect">
            <a:avLst/>
          </a:prstGeom>
          <a:solidFill>
            <a:srgbClr val="E07A3C"/>
          </a:solidFill>
          <a:ln w="9525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Messages  —  &lt;rpc&gt; / &lt;rpc-reply&gt;  (XML)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1295" y="3749040"/>
            <a:ext cx="2651760" cy="548640"/>
          </a:xfrm>
          <a:prstGeom prst="roundRect">
            <a:avLst/>
          </a:prstGeom>
          <a:solidFill>
            <a:srgbClr val="5A6A7A"/>
          </a:solidFill>
          <a:ln w="9525">
            <a:solidFill>
              <a:srgbClr val="5A6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Secure Transport  —  SSH (RFC 6242) / TLS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37560" y="2057400"/>
            <a:ext cx="5516575" cy="457200"/>
          </a:xfrm>
          <a:prstGeom prst="rightArrow">
            <a:avLst/>
          </a:prstGeom>
          <a:solidFill>
            <a:srgbClr val="E07A3C"/>
          </a:solidFill>
          <a:ln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&lt;edit-config&gt;  —  XML over SSH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3337560" y="3977640"/>
            <a:ext cx="5516575" cy="457200"/>
          </a:xfrm>
          <a:prstGeom prst="leftArrow">
            <a:avLst/>
          </a:prstGeom>
          <a:solidFill>
            <a:srgbClr val="5A6A7A"/>
          </a:solidFill>
          <a:ln>
            <a:solidFill>
              <a:srgbClr val="5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64240" cy="173736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48640" y="4709160"/>
            <a:ext cx="11064240" cy="173736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9DC9FF"/>
                </a:solidFill>
                <a:latin typeface="Consolas"/>
              </a:rPr>
              <a:t>example wire payload — &lt;edit-config&gt;  —  XML over SSH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&lt;rpc message-id="101" xmlns="urn:ietf:params:xml:ns:netconf:base:1.0"&gt;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&lt;edit-config&gt;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  &lt;target&gt;&lt;running/&gt;&lt;/target&gt;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  &lt;config&gt;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    &lt;wifi-ap xmlns="urn:example:wifi-ap"&gt;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      &lt;latency&gt;50&lt;/latency&gt;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    &lt;/wifi-ap&gt;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  &lt;/config&gt;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&lt;/edit-config&gt;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&lt;/rpc&gt;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802-eth-dot11-mp  •  NETCONF ↔ CORECONF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CORECONF protocol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Client ⟶ Server:  CBOR-encoded YANG over CoAP — tiny, binary, numeric.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Client  (AP / controller)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51760" cy="548640"/>
          </a:xfrm>
          <a:prstGeom prst="round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Content  —  YANG-modeled data (same model)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26517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Operations  —  GET / FETCH / iPATCH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2651760" cy="548640"/>
          </a:xfrm>
          <a:prstGeom prst="roundRect">
            <a:avLst/>
          </a:prstGeom>
          <a:solidFill>
            <a:srgbClr val="4A9D5B"/>
          </a:solidFill>
          <a:ln w="9525"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Encoding  —  CBOR map, keyed by SIDs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40"/>
            <a:ext cx="2651760" cy="548640"/>
          </a:xfrm>
          <a:prstGeom prst="roundRect">
            <a:avLst/>
          </a:prstGeom>
          <a:solidFill>
            <a:srgbClr val="5A6A7A"/>
          </a:solidFill>
          <a:ln w="9525">
            <a:solidFill>
              <a:srgbClr val="5A6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Transport  —  CoAP over UDP  (optional OSCORE / DTLS)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1371600"/>
            <a:ext cx="2651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Server  (constrained device)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1295" y="1828800"/>
            <a:ext cx="2651760" cy="548640"/>
          </a:xfrm>
          <a:prstGeom prst="round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Content  —  YANG-modeled data (same model)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1295" y="2468880"/>
            <a:ext cx="265176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Operations  —  GET / FETCH / iPATCH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1295" y="3108960"/>
            <a:ext cx="2651760" cy="548640"/>
          </a:xfrm>
          <a:prstGeom prst="roundRect">
            <a:avLst/>
          </a:prstGeom>
          <a:solidFill>
            <a:srgbClr val="4A9D5B"/>
          </a:solidFill>
          <a:ln w="9525"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Encoding  —  CBOR map, keyed by SIDs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1295" y="3749040"/>
            <a:ext cx="2651760" cy="548640"/>
          </a:xfrm>
          <a:prstGeom prst="roundRect">
            <a:avLst/>
          </a:prstGeom>
          <a:solidFill>
            <a:srgbClr val="5A6A7A"/>
          </a:solidFill>
          <a:ln w="9525">
            <a:solidFill>
              <a:srgbClr val="5A6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Transport  —  CoAP over UDP  (optional OSCORE / DTLS)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37560" y="2057400"/>
            <a:ext cx="5516575" cy="457200"/>
          </a:xfrm>
          <a:prstGeom prst="rightArrow">
            <a:avLst/>
          </a:prstGeom>
          <a:solidFill>
            <a:srgbClr val="4A9D5B"/>
          </a:solidFill>
          <a:ln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iPATCH  —  CBOR/SID over CoAP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3337560" y="3977640"/>
            <a:ext cx="5516575" cy="457200"/>
          </a:xfrm>
          <a:prstGeom prst="leftArrow">
            <a:avLst/>
          </a:prstGeom>
          <a:solidFill>
            <a:srgbClr val="5A6A7A"/>
          </a:solidFill>
          <a:ln>
            <a:solidFill>
              <a:srgbClr val="5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64240" cy="173736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48640" y="4709160"/>
            <a:ext cx="11064240" cy="173736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1">
                <a:solidFill>
                  <a:srgbClr val="9DC9FF"/>
                </a:solidFill>
                <a:latin typeface="Consolas"/>
              </a:rPr>
              <a:t>example wire payload — iPATCH  —  CBOR/SID over CoAP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POST  coap://ap/c                   (code = 2.02  iPATCH)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Content-Format: 140  (application/yang-data+cbor; id=sid)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CBOR payload (annotated):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{ 70010: {        # wifi-ap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    70017: 50      # latency = 50 ms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 } }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DF3"/>
                </a:solidFill>
                <a:latin typeface="Consolas"/>
              </a:rPr>
              <a:t>wire bytes:  ~14  (vs. ~215 for the NETCONF XML above)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802-eth-dot11-mp  •  NETCONF ↔ CORECONF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The example:  switch → access point →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Three YANG modules model the chain; NETCONF upstream, CORECONF to the 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0927" y="1828800"/>
            <a:ext cx="1920240" cy="118872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Mgmt
station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86887" y="2194560"/>
            <a:ext cx="731520" cy="457200"/>
          </a:xfrm>
          <a:prstGeom prst="rightArrow">
            <a:avLst/>
          </a:prstGeom>
          <a:solidFill>
            <a:srgbClr val="E07A3C"/>
          </a:solidFill>
          <a:ln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NETCONF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64127" y="1828800"/>
            <a:ext cx="1920240" cy="118872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Switch
(802.3)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30087" y="2194560"/>
            <a:ext cx="731520" cy="457200"/>
          </a:xfrm>
          <a:prstGeom prst="rightArrow">
            <a:avLst/>
          </a:prstGeom>
          <a:solidFill>
            <a:srgbClr val="E07A3C"/>
          </a:solidFill>
          <a:ln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NETCONF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7327" y="1828800"/>
            <a:ext cx="1920240" cy="118872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Wi-Fi AP
(802.11)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73287" y="2194560"/>
            <a:ext cx="731520" cy="457200"/>
          </a:xfrm>
          <a:prstGeom prst="rightArrow">
            <a:avLst/>
          </a:prstGeom>
          <a:solidFill>
            <a:srgbClr val="4A9D5B"/>
          </a:solidFill>
          <a:ln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CORECONF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0527" y="1828800"/>
            <a:ext cx="1920240" cy="118872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Device
(client)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3657600" cy="28346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3657600" cy="502920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example-switch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3474720" cy="214884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container switch {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name           string;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mgmt-address   string;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enabled        boolean;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ap-uplink-port uint8;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uplink-up      bool  (ro);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port-count     uint8 (ro);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566160"/>
            <a:ext cx="3657600" cy="28346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43400" y="3566160"/>
            <a:ext cx="3657600" cy="50292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example-wifi-ap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160520"/>
            <a:ext cx="3474720" cy="214884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container wifi-ap {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 name, ssid, band, channel;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 tx-power, latency, enabled;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 state        (ro, identityref);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list  device {   // CORECONF-managed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  key mac;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  leaf hostname, ip-address,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       signal-dbm, connected;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657600" cy="28346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38160" y="3566160"/>
            <a:ext cx="3657600" cy="502920"/>
          </a:xfrm>
          <a:prstGeom prst="rect">
            <a:avLst/>
          </a:prstGeom>
          <a:solidFill>
            <a:srgbClr val="4A9D5B"/>
          </a:solidFill>
          <a:ln w="9525"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example-device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60520"/>
            <a:ext cx="3474720" cy="214884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container device {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mac         string;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hostname    string;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ip-address  string;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signal-dbm  int8 (dBm);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 leaf connected   boolean;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// SID file assigns numeric SIDs</a:t>
            </a:r>
          </a:p>
          <a:p>
            <a:pPr algn="l"/>
            <a:r>
              <a:rPr sz="1000">
                <a:solidFill>
                  <a:srgbClr val="E6EDF3"/>
                </a:solidFill>
                <a:latin typeface="Consolas"/>
              </a:rPr>
              <a:t>// used on the CORECONF 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802-eth-dot11-mp  •  NETCONF ↔ CORECONF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YANG snippet  →  instance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Each module above becomes real data on the wire. Here are two of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577840" cy="237744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9DC9FF"/>
                </a:solidFill>
                <a:latin typeface="Consolas"/>
              </a:rPr>
              <a:t>example-switch.yang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module example-switch {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container switch {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leaf name           { type string;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leaf mgmt-address   { type string;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leaf enabled        { type boolean;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leaf ap-uplink-port { type uint8 { range "1..48"; }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leaf uplink-up      { type boolean; config false;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leaf port-count     { type uint8;   config false;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69080"/>
            <a:ext cx="5577840" cy="228600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9DC9FF"/>
                </a:solidFill>
                <a:latin typeface="Consolas"/>
              </a:rPr>
              <a:t>instance — NETCONF (XML)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// instance (NETCONF XML)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&lt;switch xmlns="urn:example:switch"&gt;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&lt;name&gt;core-switch-1&lt;/name&gt;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&lt;mgmt-address&gt;192.0.2.1&lt;/mgmt-address&gt;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&lt;enabled&gt;true&lt;/enabled&gt;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&lt;ap-uplink-port&gt;1&lt;/ap-uplink-port&gt;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&lt;/switch&gt;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577840" cy="237744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9DC9FF"/>
                </a:solidFill>
                <a:latin typeface="Consolas"/>
              </a:rPr>
              <a:t>example-wifi-ap.yang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container wifi-ap {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leaf  name     { type string; default "ap-1";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leaf  enabled  { type boolean;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leaf  ssid     { type string;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leaf  channel  { type uint8  { range "1..196"; }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leaf  tx-power { type uint8  { range "1..30"; } units "dBm";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leaf  latency  { type uint32 { range "0..10000"; } units "ms";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list  device   { key mac;  /* ... */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069080"/>
            <a:ext cx="5577840" cy="228600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9DC9FF"/>
                </a:solidFill>
                <a:latin typeface="Consolas"/>
              </a:rPr>
              <a:t>instance — CORECONF (CBOR/SID)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// instance (CORECONF CBOR, SID-keyed, annotated)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{ 70010 (wifi-ap): {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70011 (name):     "ap-1",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70012 (enabled):  true,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70013 (ssid):     "corp-wifi",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70015 (channel):  36,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70016 (tx-power): 20,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70017 (latency):  0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}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802-eth-dot11-mp  •  NETCONF ↔ CORECONF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A manager action cascades the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set-latency = 50 ms  —  three hops, two protocols, same YANG.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86687" y="1737360"/>
            <a:ext cx="1737360" cy="91440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Mgmt
station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47007" y="1737360"/>
            <a:ext cx="1737360" cy="91440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Switch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07327" y="1737360"/>
            <a:ext cx="1737360" cy="91440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Wi-Fi 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7647" y="1737360"/>
            <a:ext cx="1737360" cy="91440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Device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69767" y="1993392"/>
            <a:ext cx="731520" cy="411480"/>
          </a:xfrm>
          <a:prstGeom prst="rightArrow">
            <a:avLst/>
          </a:prstGeom>
          <a:solidFill>
            <a:srgbClr val="E07A3C"/>
          </a:solidFill>
          <a:ln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NETCONF  &lt;edit-config&gt;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30087" y="1993392"/>
            <a:ext cx="731520" cy="411480"/>
          </a:xfrm>
          <a:prstGeom prst="rightArrow">
            <a:avLst/>
          </a:prstGeom>
          <a:solidFill>
            <a:srgbClr val="E07A3C"/>
          </a:solidFill>
          <a:ln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NETCONF  &lt;edit-config&gt;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90407" y="1993392"/>
            <a:ext cx="731520" cy="411480"/>
          </a:xfrm>
          <a:prstGeom prst="rightArrow">
            <a:avLst/>
          </a:prstGeom>
          <a:solidFill>
            <a:srgbClr val="4A9D5B"/>
          </a:solidFill>
          <a:ln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CORECONF iPATCH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3794760" cy="31089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3794760" cy="457200"/>
          </a:xfrm>
          <a:prstGeom prst="rect">
            <a:avLst/>
          </a:prstGeom>
          <a:solidFill>
            <a:srgbClr val="E07A3C"/>
          </a:solidFill>
          <a:ln w="9525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hop 1 — station → switch   (NETCONF)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3611880" cy="246888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&lt;rpc message-id="101"&gt;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&lt;edit-config&gt;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&lt;target&gt;&lt;running/&gt;&lt;/target&gt;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&lt;config&gt;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  &lt;wifi-ap xmlns="urn:example:wifi-ap"&gt;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    &lt;latency&gt;50&lt;/latency&gt;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  &lt;/wifi-ap&gt;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&lt;/config&gt;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&lt;/edit-config&gt;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&lt;/rpc&gt;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~215 B payload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017520"/>
            <a:ext cx="3794760" cy="31089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434840" y="3017520"/>
            <a:ext cx="3794760" cy="457200"/>
          </a:xfrm>
          <a:prstGeom prst="rect">
            <a:avLst/>
          </a:prstGeom>
          <a:solidFill>
            <a:srgbClr val="E07A3C"/>
          </a:solidFill>
          <a:ln w="9525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hop 2 — switch → AP        (NETCONF)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566160"/>
            <a:ext cx="3611880" cy="246888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// switch is a NETCONF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// client toward the AP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// — re-issues the same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// edit-config for the AP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&lt;edit-config target running&gt;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&lt;wifi-ap xmlns=…&gt;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&lt;latency&gt;50&lt;/latency&gt;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&lt;/wifi-ap&gt;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&lt;/edit-config&gt;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~215 B payload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017520"/>
            <a:ext cx="3794760" cy="31089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321040" y="3017520"/>
            <a:ext cx="3794760" cy="457200"/>
          </a:xfrm>
          <a:prstGeom prst="rect">
            <a:avLst/>
          </a:prstGeom>
          <a:solidFill>
            <a:srgbClr val="4A9D5B"/>
          </a:solidFill>
          <a:ln w="9525"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hop 3 — AP → (device scope) (CORECONF)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566160"/>
            <a:ext cx="3611880" cy="2468880"/>
          </a:xfrm>
          <a:prstGeom prst="roundRect">
            <a:avLst/>
          </a:prstGeom>
          <a:solidFill>
            <a:srgbClr val="1E2533"/>
          </a:solidFill>
          <a:ln w="9525">
            <a:solidFill>
              <a:srgbClr val="1E2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POST coap://ap/c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Code: 2.02 iPATCH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Content-Format: 140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CBOR payload: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{ 70010: {        # wifi-ap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   70017: 50     # latency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} }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~14 B payload</a:t>
            </a:r>
          </a:p>
          <a:p>
            <a:pPr algn="l"/>
            <a:r>
              <a:rPr sz="1100">
                <a:solidFill>
                  <a:srgbClr val="E6EDF3"/>
                </a:solidFill>
                <a:latin typeface="Consolas"/>
              </a:rPr>
              <a:t> ≈ 15× smaller than NETCONF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802-eth-dot11-mp  •  NETCONF ↔ CORECONF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Why CORECONF for constrained devices?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Same YANG, right-sized protocol for the device at the edge of the 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120640" cy="42062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set-latency = 50 ms   (payload bytes)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3716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E07A3C"/>
                </a:solidFill>
                <a:latin typeface="Calibri"/>
              </a:rPr>
              <a:t>NETCONF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651760"/>
            <a:ext cx="2926080" cy="548640"/>
          </a:xfrm>
          <a:prstGeom prst="rect">
            <a:avLst/>
          </a:prstGeom>
          <a:solidFill>
            <a:srgbClr val="E07A3C"/>
          </a:solidFill>
          <a:ln w="9525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89120" y="2743200"/>
            <a:ext cx="7315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~215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3716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4A9D5B"/>
                </a:solidFill>
                <a:latin typeface="Calibri"/>
              </a:rPr>
              <a:t>CORECONF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657600"/>
            <a:ext cx="190535" cy="548640"/>
          </a:xfrm>
          <a:prstGeom prst="rect">
            <a:avLst/>
          </a:prstGeom>
          <a:solidFill>
            <a:srgbClr val="4A9D5B"/>
          </a:solidFill>
          <a:ln w="9525"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85095" y="3749040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>
                <a:solidFill>
                  <a:srgbClr val="4A9D5B"/>
                </a:solidFill>
                <a:latin typeface="Calibri"/>
              </a:rPr>
              <a:t>~14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45720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Calibri"/>
              </a:rPr>
              <a:t>≈ 15× smaller payload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45720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Calibri"/>
              </a:rPr>
              <a:t>Add CoAP/UDP vs SSH/TCP framing and the gap only widens.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737360"/>
            <a:ext cx="5577840" cy="4206240"/>
          </a:xfrm>
          <a:prstGeom prst="roundRect">
            <a:avLst/>
          </a:prstGeom>
          <a:solidFill>
            <a:srgbClr val="E8EEF5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50292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Why it matters at the 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Battery life — fewer bytes = fewer radio-on-time milliseconds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Memory — CBOR parser + CoAP stack fits in tens of KB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Bandwidth — LPWAN / mesh / sub-GHz links are byte-counted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Latency — no SSH handshake; CoAP works over UDP (and DTLS/OSCORE)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SIDs — numeric identifiers remove string overhead entirely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Same model — the device still speaks the same YANG as the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802-eth-dot11-mp  •  NETCONF ↔ CORECONF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One standard, right-sized at each 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IETF YANG + NETCONF/RESTCONF/CORECONF lets you keep one model from datacenter to sensor.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1737360"/>
            <a:ext cx="2194560" cy="7772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Mgmt station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24047" y="1943100"/>
            <a:ext cx="457200" cy="365760"/>
          </a:xfrm>
          <a:prstGeom prst="rightArrow">
            <a:avLst/>
          </a:prstGeom>
          <a:solidFill>
            <a:srgbClr val="E07A3C"/>
          </a:solidFill>
          <a:ln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NETCONF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26967" y="1737360"/>
            <a:ext cx="2194560" cy="7772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Switch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67247" y="1943100"/>
            <a:ext cx="457200" cy="365760"/>
          </a:xfrm>
          <a:prstGeom prst="rightArrow">
            <a:avLst/>
          </a:prstGeom>
          <a:solidFill>
            <a:srgbClr val="E07A3C"/>
          </a:solidFill>
          <a:ln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NETCONF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0167" y="1737360"/>
            <a:ext cx="2194560" cy="7772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Access point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10447" y="1943100"/>
            <a:ext cx="457200" cy="365760"/>
          </a:xfrm>
          <a:prstGeom prst="rightArrow">
            <a:avLst/>
          </a:prstGeom>
          <a:solidFill>
            <a:srgbClr val="4A9D5B"/>
          </a:solidFill>
          <a:ln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CORECONF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13367" y="1737360"/>
            <a:ext cx="2194560" cy="7772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3657600" cy="32004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3657600" cy="54864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One YANG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Define the data model once (IETF or vendor YANG).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Tooling (pyang, yanglint, confd, …) applies everywhere.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No ‘edge-only’ or ‘cloud-only’ silo models to maintain.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017520"/>
            <a:ext cx="3657600" cy="32004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43400" y="3017520"/>
            <a:ext cx="3657600" cy="548640"/>
          </a:xfrm>
          <a:prstGeom prst="rect">
            <a:avLst/>
          </a:prstGeom>
          <a:solidFill>
            <a:srgbClr val="E07A3C"/>
          </a:solidFill>
          <a:ln w="9525">
            <a:solidFill>
              <a:srgbClr val="E0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Right protocol per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NETCONF where SSH + XML are already the ops lingua franca.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RESTCONF where web/cloud controllers meet APIs.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CORECONF where every byte and milliamp counts.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017520"/>
            <a:ext cx="3657600" cy="32004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38160" y="3017520"/>
            <a:ext cx="3657600" cy="548640"/>
          </a:xfrm>
          <a:prstGeom prst="rect">
            <a:avLst/>
          </a:prstGeom>
          <a:solidFill>
            <a:srgbClr val="4A9D5B"/>
          </a:solidFill>
          <a:ln w="9525">
            <a:solidFill>
              <a:srgbClr val="4A9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Open, interoperable, auditable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7490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All three are IETF standards — no vendor lock-in.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The same validation rules on every hop.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Easier security review — one model, one source of truth.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Model once in YANG.  Transport right-sized per hop.  Operate one chain end-to-end.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802-eth-dot11-mp  •  NETCONF ↔ CORECONF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