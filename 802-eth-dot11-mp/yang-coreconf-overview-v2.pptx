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87168"/>
            <a:ext cx="12191695" cy="54864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E6EDF3"/>
                </a:solidFill>
                <a:latin typeface="Segoe UI"/>
              </a:rPr>
              <a:t>Modeling Once, Speaking 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0883E"/>
                </a:solidFill>
                <a:latin typeface="Segoe UI"/>
              </a:rPr>
              <a:t>YANG with NETCONF, RESTCONF &amp; CORECONF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7472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8B98A9"/>
                </a:solidFill>
                <a:latin typeface="Segoe UI"/>
              </a:rPr>
              <a:t>One data model, three protocols — and why CORECONF wins on constrained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5720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300" b="1">
                <a:solidFill>
                  <a:srgbClr val="F0883E"/>
                </a:solidFill>
                <a:latin typeface="Consolas"/>
              </a:rPr>
              <a:t>NETCONF · XML/SSH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45720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300" b="1">
                <a:solidFill>
                  <a:srgbClr val="58A6FF"/>
                </a:solidFill>
                <a:latin typeface="Consolas"/>
              </a:rPr>
              <a:t>RESTCONF · JSON/HTTP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6128" y="45720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300" b="1">
                <a:solidFill>
                  <a:srgbClr val="3FB950"/>
                </a:solidFill>
                <a:latin typeface="Consolas"/>
              </a:rPr>
              <a:t>CORECONF · CBOR/CoAP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6072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B98A9"/>
                </a:solidFill>
                <a:latin typeface="Segoe UI"/>
              </a:rPr>
              <a:t>Worked examples from the </a:t>
            </a:r>
            <a:r>
              <a:rPr sz="1400" b="1">
                <a:solidFill>
                  <a:srgbClr val="D29922"/>
                </a:solidFill>
                <a:latin typeface="Consolas"/>
              </a:rPr>
              <a:t>example-wifi-ap</a:t>
            </a:r>
            <a:r>
              <a:rPr sz="1400" b="0">
                <a:solidFill>
                  <a:srgbClr val="8B98A9"/>
                </a:solidFill>
                <a:latin typeface="Segoe UI"/>
              </a:rPr>
              <a:t> management chain.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YANG and NETCONF: model vs.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YANG defines WHAT the data is; NETCONF is HOW you move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73152" cy="21031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YANG — the data modeling language (RFC 7950)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Describes </a:t>
            </a:r>
            <a:r>
              <a:rPr sz="1300" b="0">
                <a:solidFill>
                  <a:srgbClr val="8B98A9"/>
                </a:solidFill>
                <a:latin typeface="Segoe UI"/>
              </a:rPr>
              <a:t>structure, types, constraints, and defaults.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Hierarchy </a:t>
            </a:r>
            <a:r>
              <a:rPr sz="1300" b="0">
                <a:solidFill>
                  <a:srgbClr val="8B98A9"/>
                </a:solidFill>
                <a:latin typeface="Segoe UI"/>
              </a:rPr>
              <a:t>of containers, lists, leaves — vendor-neutral.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One model </a:t>
            </a:r>
            <a:r>
              <a:rPr sz="1300" b="0">
                <a:solidFill>
                  <a:srgbClr val="8B98A9"/>
                </a:solidFill>
                <a:latin typeface="Segoe UI"/>
              </a:rPr>
              <a:t>serves every protocol below.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Example: </a:t>
            </a:r>
            <a:r>
              <a:rPr sz="1300" b="0">
                <a:solidFill>
                  <a:srgbClr val="8B98A9"/>
                </a:solidFill>
                <a:latin typeface="Segoe UI"/>
              </a:rPr>
              <a:t>example-wifi-ap defines channel, latency, device{}.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73152" cy="210312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719072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F0883E"/>
                </a:solidFill>
                <a:latin typeface="Segoe UI"/>
              </a:rPr>
              <a:t>NETCONF — the management protocol (RFC 6241)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Operations </a:t>
            </a:r>
            <a:r>
              <a:rPr sz="1300" b="0">
                <a:solidFill>
                  <a:srgbClr val="8B98A9"/>
                </a:solidFill>
                <a:latin typeface="Segoe UI"/>
              </a:rPr>
              <a:t>get, edit-config, commit over a session.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Datastores </a:t>
            </a:r>
            <a:r>
              <a:rPr sz="1300" b="0">
                <a:solidFill>
                  <a:srgbClr val="8B98A9"/>
                </a:solidFill>
                <a:latin typeface="Segoe UI"/>
              </a:rPr>
              <a:t>running / candidate / startup.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Encoding </a:t>
            </a:r>
            <a:r>
              <a:rPr sz="1300" b="0">
                <a:solidFill>
                  <a:srgbClr val="8B98A9"/>
                </a:solidFill>
                <a:latin typeface="Segoe UI"/>
              </a:rPr>
              <a:t>XML, carried over SSH.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Validates </a:t>
            </a:r>
            <a:r>
              <a:rPr sz="1300" b="0">
                <a:solidFill>
                  <a:srgbClr val="8B98A9"/>
                </a:solidFill>
                <a:latin typeface="Segoe UI"/>
              </a:rPr>
              <a:t>payloads against the YANG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12182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265176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YANG module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B98A9"/>
                </a:solidFill>
                <a:latin typeface="Consolas"/>
              </a:rPr>
              <a:t>.yang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the single source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of truth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37560" y="4892040"/>
            <a:ext cx="822960" cy="201168"/>
          </a:xfrm>
          <a:prstGeom prst="rightArrow">
            <a:avLst/>
          </a:prstGeom>
          <a:solidFill>
            <a:srgbClr val="8B9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4507992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98A9"/>
                </a:solidFill>
                <a:latin typeface="Consolas"/>
              </a:rPr>
              <a:t>drives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14800"/>
            <a:ext cx="2286000" cy="1737360"/>
          </a:xfrm>
          <a:prstGeom prst="roundRect">
            <a:avLst>
              <a:gd name="adj" fmla="val 6000"/>
            </a:avLst>
          </a:prstGeom>
          <a:solidFill>
            <a:srgbClr val="121823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4348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883E"/>
                </a:solidFill>
                <a:latin typeface="Segoe UI"/>
              </a:rPr>
              <a:t>NETCONF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Consolas"/>
              </a:rPr>
              <a:t>XML / SSH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14800"/>
            <a:ext cx="2286000" cy="1737360"/>
          </a:xfrm>
          <a:prstGeom prst="roundRect">
            <a:avLst>
              <a:gd name="adj" fmla="val 6000"/>
            </a:avLst>
          </a:prstGeom>
          <a:solidFill>
            <a:srgbClr val="12182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4348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RESTCONF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Consolas"/>
              </a:rPr>
              <a:t>JSON / 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114800"/>
            <a:ext cx="2286000" cy="1737360"/>
          </a:xfrm>
          <a:prstGeom prst="roundRect">
            <a:avLst>
              <a:gd name="adj" fmla="val 6000"/>
            </a:avLst>
          </a:prstGeom>
          <a:solidFill>
            <a:srgbClr val="1218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44348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CORECONF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Consolas"/>
              </a:rPr>
              <a:t>CBOR / CoAP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925312"/>
            <a:ext cx="7223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same model → three wire formats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One family: NETCONF, RESTCONF, CORECONF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Same YANG models, different transports and encodings for different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905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611880" cy="64008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611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0883E"/>
                </a:solidFill>
                <a:latin typeface="Segoe UI"/>
              </a:rPr>
              <a:t>NETCONF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611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RFC 6241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Transport </a:t>
            </a:r>
            <a:r>
              <a:rPr sz="1300" b="0">
                <a:solidFill>
                  <a:srgbClr val="E6EDF3"/>
                </a:solidFill>
                <a:latin typeface="Segoe UI"/>
              </a:rPr>
              <a:t>SSH / TCP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Encoding </a:t>
            </a:r>
            <a:r>
              <a:rPr sz="1300" b="0">
                <a:solidFill>
                  <a:srgbClr val="E6EDF3"/>
                </a:solidFill>
                <a:latin typeface="Segoe UI"/>
              </a:rPr>
              <a:t>XML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Style </a:t>
            </a:r>
            <a:r>
              <a:rPr sz="1300" b="0">
                <a:solidFill>
                  <a:srgbClr val="E6EDF3"/>
                </a:solidFill>
                <a:latin typeface="Segoe UI"/>
              </a:rPr>
              <a:t>session + datastores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Best for </a:t>
            </a:r>
            <a:r>
              <a:rPr sz="1300" b="0">
                <a:solidFill>
                  <a:srgbClr val="E6EDF3"/>
                </a:solidFill>
                <a:latin typeface="Segoe UI"/>
              </a:rPr>
              <a:t>routers, data-center gear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Payload </a:t>
            </a:r>
            <a:r>
              <a:rPr sz="1300" b="0">
                <a:solidFill>
                  <a:srgbClr val="E6EDF3"/>
                </a:solidFill>
                <a:latin typeface="Segoe UI"/>
              </a:rPr>
              <a:t>largest (verbose XML)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60020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600200"/>
            <a:ext cx="3611880" cy="64008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645920"/>
            <a:ext cx="3611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58A6FF"/>
                </a:solidFill>
                <a:latin typeface="Segoe UI"/>
              </a:rPr>
              <a:t>RESTCONF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212848"/>
            <a:ext cx="3611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RFC 8040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697480"/>
            <a:ext cx="32004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Transport </a:t>
            </a:r>
            <a:r>
              <a:rPr sz="1300" b="0">
                <a:solidFill>
                  <a:srgbClr val="E6EDF3"/>
                </a:solidFill>
                <a:latin typeface="Segoe UI"/>
              </a:rPr>
              <a:t>HTTP / TLS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Encoding </a:t>
            </a:r>
            <a:r>
              <a:rPr sz="1300" b="0">
                <a:solidFill>
                  <a:srgbClr val="E6EDF3"/>
                </a:solidFill>
                <a:latin typeface="Segoe UI"/>
              </a:rPr>
              <a:t>JSON or XML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Style </a:t>
            </a:r>
            <a:r>
              <a:rPr sz="1300" b="0">
                <a:solidFill>
                  <a:srgbClr val="E6EDF3"/>
                </a:solidFill>
                <a:latin typeface="Segoe UI"/>
              </a:rPr>
              <a:t>RESTful CRUD on resources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Best for </a:t>
            </a:r>
            <a:r>
              <a:rPr sz="1300" b="0">
                <a:solidFill>
                  <a:srgbClr val="E6EDF3"/>
                </a:solidFill>
                <a:latin typeface="Segoe UI"/>
              </a:rPr>
              <a:t>web / automation tooling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Payload </a:t>
            </a:r>
            <a:r>
              <a:rPr sz="1300" b="0">
                <a:solidFill>
                  <a:srgbClr val="E6EDF3"/>
                </a:solidFill>
                <a:latin typeface="Segoe UI"/>
              </a:rPr>
              <a:t>medium (JSON)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0020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600200"/>
            <a:ext cx="3611880" cy="64008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645920"/>
            <a:ext cx="3611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FB950"/>
                </a:solidFill>
                <a:latin typeface="Segoe UI"/>
              </a:rPr>
              <a:t>CORECONF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2212848"/>
            <a:ext cx="3611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draft-ietf-core-comi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697480"/>
            <a:ext cx="32004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Transport </a:t>
            </a:r>
            <a:r>
              <a:rPr sz="1300" b="0">
                <a:solidFill>
                  <a:srgbClr val="E6EDF3"/>
                </a:solidFill>
                <a:latin typeface="Segoe UI"/>
              </a:rPr>
              <a:t>CoAP / UDP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Encoding </a:t>
            </a:r>
            <a:r>
              <a:rPr sz="1300" b="0">
                <a:solidFill>
                  <a:srgbClr val="E6EDF3"/>
                </a:solidFill>
                <a:latin typeface="Segoe UI"/>
              </a:rPr>
              <a:t>CBOR + numeric SIDs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Style </a:t>
            </a:r>
            <a:r>
              <a:rPr sz="1300" b="0">
                <a:solidFill>
                  <a:srgbClr val="E6EDF3"/>
                </a:solidFill>
                <a:latin typeface="Segoe UI"/>
              </a:rPr>
              <a:t>GET / FETCH / iPATCH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Best for </a:t>
            </a:r>
            <a:r>
              <a:rPr sz="1300" b="0">
                <a:solidFill>
                  <a:srgbClr val="E6EDF3"/>
                </a:solidFill>
                <a:latin typeface="Segoe UI"/>
              </a:rPr>
              <a:t>constrained IoT devices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Payload </a:t>
            </a:r>
            <a:r>
              <a:rPr sz="1300" b="0">
                <a:solidFill>
                  <a:srgbClr val="E6EDF3"/>
                </a:solidFill>
                <a:latin typeface="Segoe UI"/>
              </a:rPr>
              <a:t>smallest (binary + SIDs)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Shared foundation:  </a:t>
            </a:r>
            <a:r>
              <a:rPr sz="1300" b="0">
                <a:solidFill>
                  <a:srgbClr val="E6EDF3"/>
                </a:solidFill>
                <a:latin typeface="Segoe UI"/>
              </a:rPr>
              <a:t>the SAME YANG modules + the SAME datastore model (NMDA, RFC 8342)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NETCONF: client → server message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Layered model (RFC 6241) — XML content over an SSH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" cy="7315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Content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config / state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32888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91440" cy="73152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883E"/>
                </a:solidFill>
                <a:latin typeface="Segoe UI"/>
              </a:rPr>
              <a:t>Operations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&lt;get&gt;, &lt;edit-config&gt;, &lt;commit&gt;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74136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91440" cy="731520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71F7"/>
                </a:solidFill>
                <a:latin typeface="Segoe UI"/>
              </a:rPr>
              <a:t>Messages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&lt;rpc&gt;, &lt;rpc-reply&gt;, &lt;notification&gt;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15384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15384"/>
            <a:ext cx="91440" cy="7315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Secure Transport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SSH (TCP/830)</a:t>
            </a:r>
          </a:p>
        </p:txBody>
      </p:sp>
      <p:sp>
        <p:nvSpPr>
          <p:cNvPr id="18" name="Oval 17"/>
          <p:cNvSpPr/>
          <p:nvPr/>
        </p:nvSpPr>
        <p:spPr>
          <a:xfrm>
            <a:off x="5623560" y="1600200"/>
            <a:ext cx="822960" cy="822960"/>
          </a:xfrm>
          <a:prstGeom prst="ellipse">
            <a:avLst/>
          </a:prstGeom>
          <a:solidFill>
            <a:srgbClr val="121823"/>
          </a:solidFill>
          <a:ln w="317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58A6FF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5059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69748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manager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80" y="1600200"/>
            <a:ext cx="822960" cy="822960"/>
          </a:xfrm>
          <a:prstGeom prst="ellipse">
            <a:avLst/>
          </a:prstGeom>
          <a:solidFill>
            <a:srgbClr val="121823"/>
          </a:solidFill>
          <a:ln w="317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3FB950"/>
                </a:solidFill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45059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9748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device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25515" y="2651760"/>
            <a:ext cx="19050" cy="2926080"/>
          </a:xfrm>
          <a:prstGeom prst="rect">
            <a:avLst/>
          </a:prstGeom>
          <a:solidFill>
            <a:srgbClr val="27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71835" y="2651760"/>
            <a:ext cx="19050" cy="2926080"/>
          </a:xfrm>
          <a:prstGeom prst="rect">
            <a:avLst/>
          </a:prstGeom>
          <a:solidFill>
            <a:srgbClr val="27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6035040" y="3017520"/>
            <a:ext cx="4846320" cy="164592"/>
          </a:xfrm>
          <a:prstGeom prst="rightArrow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72491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0883E"/>
                </a:solidFill>
                <a:latin typeface="Consolas"/>
              </a:rPr>
              <a:t>&lt;hello&gt; capabilities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035040" y="3657600"/>
            <a:ext cx="4846320" cy="164592"/>
          </a:xfrm>
          <a:prstGeom prst="rightArrow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36499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0883E"/>
                </a:solidFill>
                <a:latin typeface="Consolas"/>
              </a:rPr>
              <a:t>&lt;rpc&gt;&lt;edit-config&gt;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6035040" y="4297680"/>
            <a:ext cx="4846320" cy="164592"/>
          </a:xfrm>
          <a:prstGeom prst="lef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00507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FB950"/>
                </a:solidFill>
                <a:latin typeface="Consolas"/>
              </a:rPr>
              <a:t>&lt;rpc-reply&gt;&lt;ok/&gt;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35040" y="4937760"/>
            <a:ext cx="4846320" cy="164592"/>
          </a:xfrm>
          <a:prstGeom prst="rightArrow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64515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0883E"/>
                </a:solidFill>
                <a:latin typeface="Consolas"/>
              </a:rPr>
              <a:t>&lt;rpc&gt;&lt;get&gt;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6035040" y="5577840"/>
            <a:ext cx="4846320" cy="164592"/>
          </a:xfrm>
          <a:prstGeom prst="lef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528523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FB950"/>
                </a:solidFill>
                <a:latin typeface="Consolas"/>
              </a:rPr>
              <a:t>&lt;rpc-reply&gt;&lt;data&gt;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CORECONF: client → server message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Same YANG model, compact stack — CBOR + numeric SIDs over CoAP/UDP.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" cy="7315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Content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CBOR map keyed by numeric SIDs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32888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91440" cy="7315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Methods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GET, FETCH, iPATCH on /c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74136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91440" cy="731520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71F7"/>
                </a:solidFill>
                <a:latin typeface="Segoe UI"/>
              </a:rPr>
              <a:t>Messaging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CoAP confirmable / Content-Format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15384"/>
            <a:ext cx="4297680" cy="731520"/>
          </a:xfrm>
          <a:prstGeom prst="roundRect">
            <a:avLst>
              <a:gd name="adj" fmla="val 8000"/>
            </a:avLst>
          </a:prstGeom>
          <a:solidFill>
            <a:srgbClr val="121823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15384"/>
            <a:ext cx="91440" cy="73152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29922"/>
                </a:solidFill>
                <a:latin typeface="Segoe UI"/>
              </a:rPr>
              <a:t>Transport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8A9"/>
                </a:solidFill>
                <a:latin typeface="Consolas"/>
              </a:rPr>
              <a:t>UDP (5683) · optional OSCORE</a:t>
            </a:r>
          </a:p>
        </p:txBody>
      </p:sp>
      <p:sp>
        <p:nvSpPr>
          <p:cNvPr id="18" name="Oval 17"/>
          <p:cNvSpPr/>
          <p:nvPr/>
        </p:nvSpPr>
        <p:spPr>
          <a:xfrm>
            <a:off x="5623560" y="1600200"/>
            <a:ext cx="822960" cy="822960"/>
          </a:xfrm>
          <a:prstGeom prst="ellipse">
            <a:avLst/>
          </a:prstGeom>
          <a:solidFill>
            <a:srgbClr val="121823"/>
          </a:solidFill>
          <a:ln w="317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3FB950"/>
                </a:solidFill>
              </a:rPr>
              <a:t>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5059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69748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AP (COMI)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80" y="1600200"/>
            <a:ext cx="822960" cy="822960"/>
          </a:xfrm>
          <a:prstGeom prst="ellipse">
            <a:avLst/>
          </a:prstGeom>
          <a:solidFill>
            <a:srgbClr val="121823"/>
          </a:solidFill>
          <a:ln w="317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D29922"/>
                </a:solidFill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45059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9748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device /c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25515" y="2651760"/>
            <a:ext cx="19050" cy="2926080"/>
          </a:xfrm>
          <a:prstGeom prst="rect">
            <a:avLst/>
          </a:prstGeom>
          <a:solidFill>
            <a:srgbClr val="27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71835" y="2651760"/>
            <a:ext cx="19050" cy="2926080"/>
          </a:xfrm>
          <a:prstGeom prst="rect">
            <a:avLst/>
          </a:prstGeom>
          <a:solidFill>
            <a:srgbClr val="27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6035040" y="3017520"/>
            <a:ext cx="4846320" cy="164592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72491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3FB950"/>
                </a:solidFill>
                <a:latin typeface="Consolas"/>
              </a:rPr>
              <a:t>GET /c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6035040" y="3657600"/>
            <a:ext cx="4846320" cy="164592"/>
          </a:xfrm>
          <a:prstGeom prst="leftArrow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36499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D29922"/>
                </a:solidFill>
                <a:latin typeface="Consolas"/>
              </a:rPr>
              <a:t>2.05 Content {CBOR}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035040" y="4480560"/>
            <a:ext cx="4846320" cy="164592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18795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3FB950"/>
                </a:solidFill>
                <a:latin typeface="Consolas"/>
              </a:rPr>
              <a:t>iPATCH /c {70010:{70017:35}}</a:t>
            </a:r>
          </a:p>
        </p:txBody>
      </p:sp>
      <p:sp>
        <p:nvSpPr>
          <p:cNvPr id="32" name="Left Arrow 31"/>
          <p:cNvSpPr/>
          <p:nvPr/>
        </p:nvSpPr>
        <p:spPr>
          <a:xfrm>
            <a:off x="6035040" y="5303520"/>
            <a:ext cx="4846320" cy="164592"/>
          </a:xfrm>
          <a:prstGeom prst="leftArrow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5010912"/>
            <a:ext cx="4846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D29922"/>
                </a:solidFill>
                <a:latin typeface="Consolas"/>
              </a:rPr>
              <a:t>2.04 Changed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760720"/>
            <a:ext cx="6035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No session setup, no XML, datagram-friendly — </a:t>
            </a:r>
            <a:r>
              <a:rPr sz="1200" b="1">
                <a:solidFill>
                  <a:srgbClr val="3FB950"/>
                </a:solidFill>
                <a:latin typeface="Segoe UI"/>
              </a:rPr>
              <a:t>SIDs replace long path strings.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The wifi-ap model as a structure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example-wifi-ap rendered PlantUML-style — a container owning a keyed device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4754880" cy="3566160"/>
          </a:xfrm>
          <a:prstGeom prst="roundRect">
            <a:avLst>
              <a:gd name="adj" fmla="val 3000"/>
            </a:avLst>
          </a:prstGeom>
          <a:solidFill>
            <a:srgbClr val="121823"/>
          </a:solidFill>
          <a:ln w="2222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4754880" cy="457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6776"/>
            <a:ext cx="475488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8120B"/>
                </a:solidFill>
                <a:latin typeface="Segoe UI"/>
              </a:rPr>
              <a:t>« container »  wifi-ap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name   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05456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enabled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boolean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62072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ssid   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18688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band   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wifi-band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75304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channel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uint8 [1..196]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31920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tx-power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uint8 dBm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88536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latency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uint32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645152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~ </a:t>
            </a:r>
            <a:r>
              <a:rPr sz="1300" b="1">
                <a:solidFill>
                  <a:srgbClr val="E6EDF3"/>
                </a:solidFill>
                <a:latin typeface="Consolas"/>
              </a:rPr>
              <a:t>state  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identityref  {ro}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240280"/>
            <a:ext cx="4572000" cy="2743200"/>
          </a:xfrm>
          <a:prstGeom prst="roundRect">
            <a:avLst>
              <a:gd name="adj" fmla="val 3000"/>
            </a:avLst>
          </a:prstGeom>
          <a:solidFill>
            <a:srgbClr val="121823"/>
          </a:solidFill>
          <a:ln w="2222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240280"/>
            <a:ext cx="4572000" cy="4572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76856"/>
            <a:ext cx="45720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0D04"/>
                </a:solidFill>
                <a:latin typeface="Segoe UI"/>
              </a:rPr>
              <a:t>« list » 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825496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🔑 </a:t>
            </a:r>
            <a:r>
              <a:rPr sz="1300" b="1">
                <a:solidFill>
                  <a:srgbClr val="E6EDF3"/>
                </a:solidFill>
                <a:latin typeface="Consolas"/>
              </a:rPr>
              <a:t>mac     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string  {key}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209544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hostname 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593592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ip-address </a:t>
            </a:r>
            <a:r>
              <a:rPr sz="1300" b="0">
                <a:solidFill>
                  <a:srgbClr val="D29922"/>
                </a:solidFill>
                <a:latin typeface="Consolas"/>
              </a:rPr>
              <a:t>: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977640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signal-dbm </a:t>
            </a:r>
            <a:r>
              <a:rPr sz="1300" b="0">
                <a:solidFill>
                  <a:srgbClr val="D29922"/>
                </a:solidFill>
                <a:latin typeface="Consolas"/>
              </a:rPr>
              <a:t>: int8 dBm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61688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connected  </a:t>
            </a:r>
            <a:r>
              <a:rPr sz="1300" b="0">
                <a:solidFill>
                  <a:srgbClr val="D29922"/>
                </a:solidFill>
                <a:latin typeface="Consolas"/>
              </a:rPr>
              <a:t>: boolean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383280"/>
            <a:ext cx="1188720" cy="25400"/>
          </a:xfrm>
          <a:prstGeom prst="rect">
            <a:avLst/>
          </a:prstGeom>
          <a:solidFill>
            <a:srgbClr val="8B9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367528" y="3282696"/>
            <a:ext cx="237744" cy="237744"/>
          </a:xfrm>
          <a:prstGeom prst="diamond">
            <a:avLst/>
          </a:prstGeom>
          <a:solidFill>
            <a:srgbClr val="3FB950"/>
          </a:solidFill>
          <a:ln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6364224" y="3319272"/>
            <a:ext cx="310896" cy="146304"/>
          </a:xfrm>
          <a:prstGeom prst="rightArrow">
            <a:avLst/>
          </a:prstGeom>
          <a:solidFill>
            <a:srgbClr val="8B9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2926080"/>
            <a:ext cx="1188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onsolas"/>
              </a:rPr>
              <a:t>1</a:t>
            </a:r>
            <a:r>
              <a:rPr sz="1100" b="0">
                <a:solidFill>
                  <a:srgbClr val="8B98A9"/>
                </a:solidFill>
                <a:latin typeface="Consolas"/>
              </a:rPr>
              <a:t>        composition        </a:t>
            </a:r>
            <a:r>
              <a:rPr sz="1200" b="1">
                <a:solidFill>
                  <a:srgbClr val="D29922"/>
                </a:solidFill>
                <a:latin typeface="Consolas"/>
              </a:rPr>
              <a:t>0..*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456432"/>
            <a:ext cx="1188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98A9"/>
                </a:solidFill>
                <a:latin typeface="Consolas"/>
              </a:rPr>
              <a:t>key: mac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4068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04688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</a:t>
            </a:r>
            <a:r>
              <a:rPr sz="1200" b="0">
                <a:solidFill>
                  <a:srgbClr val="8B98A9"/>
                </a:solidFill>
                <a:latin typeface="Segoe UI"/>
              </a:rPr>
              <a:t> read-write (config)      </a:t>
            </a:r>
            <a:r>
              <a:rPr sz="1300" b="1">
                <a:solidFill>
                  <a:srgbClr val="58A6FF"/>
                </a:solidFill>
                <a:latin typeface="Consolas"/>
              </a:rPr>
              <a:t>~</a:t>
            </a:r>
            <a:r>
              <a:rPr sz="1200" b="0">
                <a:solidFill>
                  <a:srgbClr val="8B98A9"/>
                </a:solidFill>
                <a:latin typeface="Segoe UI"/>
              </a:rPr>
              <a:t> read-only {ro} state      </a:t>
            </a:r>
            <a:r>
              <a:rPr sz="1200" b="1">
                <a:solidFill>
                  <a:srgbClr val="F85149"/>
                </a:solidFill>
                <a:latin typeface="Consolas"/>
              </a:rPr>
              <a:t>🔑</a:t>
            </a:r>
            <a:r>
              <a:rPr sz="1200" b="0">
                <a:solidFill>
                  <a:srgbClr val="8B98A9"/>
                </a:solidFill>
                <a:latin typeface="Segoe UI"/>
              </a:rPr>
              <a:t> list key      </a:t>
            </a:r>
            <a:r>
              <a:rPr sz="1300" b="1">
                <a:solidFill>
                  <a:srgbClr val="3FB950"/>
                </a:solidFill>
                <a:latin typeface="Consolas"/>
              </a:rPr>
              <a:t>◆—▶</a:t>
            </a:r>
            <a:r>
              <a:rPr sz="1200" b="0">
                <a:solidFill>
                  <a:srgbClr val="8B98A9"/>
                </a:solidFill>
                <a:latin typeface="Segoe UI"/>
              </a:rPr>
              <a:t> composition (owns)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Same model the AP exposes over NETCONF upstream and CORECONF (SIDs) down to each device.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Example: the wifi-ap YANG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The single model the whole chain shares — example-wifi-ap@2026-10-05.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492240" cy="292608"/>
          </a:xfrm>
          <a:prstGeom prst="roundRect">
            <a:avLst>
              <a:gd name="adj" fmla="val 12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100" b="1">
                <a:solidFill>
                  <a:srgbClr val="8B98A9"/>
                </a:solidFill>
                <a:latin typeface="Consolas"/>
              </a:rPr>
              <a:t>yang/example-wifi-ap@2026-10-05.yang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11096"/>
            <a:ext cx="6492240" cy="4261104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container </a:t>
            </a:r>
            <a:r>
              <a:rPr sz="1300">
                <a:solidFill>
                  <a:srgbClr val="E6EDF3"/>
                </a:solidFill>
                <a:latin typeface="Consolas"/>
              </a:rPr>
              <a:t>wifi-ap </a:t>
            </a:r>
            <a:r>
              <a:rPr sz="1300">
                <a:solidFill>
                  <a:srgbClr val="8B98A9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leaf </a:t>
            </a:r>
            <a:r>
              <a:rPr sz="1300">
                <a:solidFill>
                  <a:srgbClr val="E6EDF3"/>
                </a:solidFill>
                <a:latin typeface="Consolas"/>
              </a:rPr>
              <a:t>channel </a:t>
            </a:r>
            <a:r>
              <a:rPr sz="1300">
                <a:solidFill>
                  <a:srgbClr val="8B98A9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type </a:t>
            </a:r>
            <a:r>
              <a:rPr sz="1300">
                <a:solidFill>
                  <a:srgbClr val="D29922"/>
                </a:solidFill>
                <a:latin typeface="Consolas"/>
              </a:rPr>
              <a:t>uint8 </a:t>
            </a:r>
            <a:r>
              <a:rPr sz="1300">
                <a:solidFill>
                  <a:srgbClr val="58A6FF"/>
                </a:solidFill>
                <a:latin typeface="Consolas"/>
              </a:rPr>
              <a:t>{ range </a:t>
            </a:r>
            <a:r>
              <a:rPr sz="1300">
                <a:solidFill>
                  <a:srgbClr val="D29922"/>
                </a:solidFill>
                <a:latin typeface="Consolas"/>
              </a:rPr>
              <a:t>"1..196"</a:t>
            </a:r>
            <a:r>
              <a:rPr sz="1300">
                <a:solidFill>
                  <a:srgbClr val="8B98A9"/>
                </a:solidFill>
                <a:latin typeface="Consolas"/>
              </a:rPr>
              <a:t>;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default </a:t>
            </a:r>
            <a:r>
              <a:rPr sz="1300">
                <a:solidFill>
                  <a:srgbClr val="D29922"/>
                </a:solidFill>
                <a:latin typeface="Consolas"/>
              </a:rPr>
              <a:t>36</a:t>
            </a:r>
            <a:r>
              <a:rPr sz="1300">
                <a:solidFill>
                  <a:srgbClr val="8B98A9"/>
                </a:solidFill>
                <a:latin typeface="Consolas"/>
              </a:rPr>
              <a:t>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8B98A9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leaf </a:t>
            </a:r>
            <a:r>
              <a:rPr sz="1300">
                <a:solidFill>
                  <a:srgbClr val="E6EDF3"/>
                </a:solidFill>
                <a:latin typeface="Consolas"/>
              </a:rPr>
              <a:t>latency </a:t>
            </a:r>
            <a:r>
              <a:rPr sz="1300">
                <a:solidFill>
                  <a:srgbClr val="8B98A9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type </a:t>
            </a:r>
            <a:r>
              <a:rPr sz="1300">
                <a:solidFill>
                  <a:srgbClr val="D29922"/>
                </a:solidFill>
                <a:latin typeface="Consolas"/>
              </a:rPr>
              <a:t>uint32 </a:t>
            </a:r>
            <a:r>
              <a:rPr sz="1300">
                <a:solidFill>
                  <a:srgbClr val="58A6FF"/>
                </a:solidFill>
                <a:latin typeface="Consolas"/>
              </a:rPr>
              <a:t>{ range </a:t>
            </a:r>
            <a:r>
              <a:rPr sz="1300">
                <a:solidFill>
                  <a:srgbClr val="D29922"/>
                </a:solidFill>
                <a:latin typeface="Consolas"/>
              </a:rPr>
              <a:t>"0..10000"</a:t>
            </a:r>
            <a:r>
              <a:rPr sz="1300">
                <a:solidFill>
                  <a:srgbClr val="8B98A9"/>
                </a:solidFill>
                <a:latin typeface="Consolas"/>
              </a:rPr>
              <a:t>;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units </a:t>
            </a:r>
            <a:r>
              <a:rPr sz="1300">
                <a:solidFill>
                  <a:srgbClr val="D29922"/>
                </a:solidFill>
                <a:latin typeface="Consolas"/>
              </a:rPr>
              <a:t>"milliseconds"</a:t>
            </a:r>
            <a:r>
              <a:rPr sz="1300">
                <a:solidFill>
                  <a:srgbClr val="8B98A9"/>
                </a:solidFill>
                <a:latin typeface="Consolas"/>
              </a:rPr>
              <a:t>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8B98A9"/>
                </a:solidFill>
                <a:latin typeface="Consolas"/>
              </a:rPr>
              <a:t>  }</a:t>
            </a:r>
            <a:r>
              <a:rPr sz="1300">
                <a:solidFill>
                  <a:srgbClr val="8B98A9"/>
                </a:solidFill>
                <a:latin typeface="Consolas"/>
              </a:rPr>
              <a:t>          // writable latency target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leaf </a:t>
            </a:r>
            <a:r>
              <a:rPr sz="1300">
                <a:solidFill>
                  <a:srgbClr val="E6EDF3"/>
                </a:solidFill>
                <a:latin typeface="Consolas"/>
              </a:rPr>
              <a:t>state </a:t>
            </a:r>
            <a:r>
              <a:rPr sz="1300">
                <a:solidFill>
                  <a:srgbClr val="8B98A9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type </a:t>
            </a:r>
            <a:r>
              <a:rPr sz="1300">
                <a:solidFill>
                  <a:srgbClr val="D29922"/>
                </a:solidFill>
                <a:latin typeface="Consolas"/>
              </a:rPr>
              <a:t>identityref </a:t>
            </a:r>
            <a:r>
              <a:rPr sz="1300">
                <a:solidFill>
                  <a:srgbClr val="8B98A9"/>
                </a:solidFill>
                <a:latin typeface="Consolas"/>
              </a:rPr>
              <a:t>{ base radio-state;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config </a:t>
            </a:r>
            <a:r>
              <a:rPr sz="1300">
                <a:solidFill>
                  <a:srgbClr val="F85149"/>
                </a:solidFill>
                <a:latin typeface="Consolas"/>
              </a:rPr>
              <a:t>false</a:t>
            </a:r>
            <a:r>
              <a:rPr sz="1300">
                <a:solidFill>
                  <a:srgbClr val="8B98A9"/>
                </a:solidFill>
                <a:latin typeface="Consolas"/>
              </a:rPr>
              <a:t>;</a:t>
            </a:r>
            <a:r>
              <a:rPr sz="1300">
                <a:solidFill>
                  <a:srgbClr val="8B98A9"/>
                </a:solidFill>
                <a:latin typeface="Consolas"/>
              </a:rPr>
              <a:t>   // read-only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8B98A9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list </a:t>
            </a:r>
            <a:r>
              <a:rPr sz="1300">
                <a:solidFill>
                  <a:srgbClr val="E6EDF3"/>
                </a:solidFill>
                <a:latin typeface="Consolas"/>
              </a:rPr>
              <a:t>device </a:t>
            </a:r>
            <a:r>
              <a:rPr sz="1300">
                <a:solidFill>
                  <a:srgbClr val="58A6FF"/>
                </a:solidFill>
                <a:latin typeface="Consolas"/>
              </a:rPr>
              <a:t>{ key </a:t>
            </a:r>
            <a:r>
              <a:rPr sz="1300">
                <a:solidFill>
                  <a:srgbClr val="D29922"/>
                </a:solidFill>
                <a:latin typeface="Consolas"/>
              </a:rPr>
              <a:t>"mac"</a:t>
            </a:r>
            <a:r>
              <a:rPr sz="1300">
                <a:solidFill>
                  <a:srgbClr val="8B98A9"/>
                </a:solidFill>
                <a:latin typeface="Consolas"/>
              </a:rPr>
              <a:t>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leaf </a:t>
            </a:r>
            <a:r>
              <a:rPr sz="1300">
                <a:solidFill>
                  <a:srgbClr val="E6EDF3"/>
                </a:solidFill>
                <a:latin typeface="Consolas"/>
              </a:rPr>
              <a:t>mac        </a:t>
            </a:r>
            <a:r>
              <a:rPr sz="1300">
                <a:solidFill>
                  <a:srgbClr val="58A6FF"/>
                </a:solidFill>
                <a:latin typeface="Consolas"/>
              </a:rPr>
              <a:t>{ type </a:t>
            </a:r>
            <a:r>
              <a:rPr sz="1300">
                <a:solidFill>
                  <a:srgbClr val="D29922"/>
                </a:solidFill>
                <a:latin typeface="Consolas"/>
              </a:rPr>
              <a:t>string</a:t>
            </a:r>
            <a:r>
              <a:rPr sz="1300">
                <a:solidFill>
                  <a:srgbClr val="8B98A9"/>
                </a:solidFill>
                <a:latin typeface="Consolas"/>
              </a:rPr>
              <a:t>;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leaf </a:t>
            </a:r>
            <a:r>
              <a:rPr sz="1300">
                <a:solidFill>
                  <a:srgbClr val="E6EDF3"/>
                </a:solidFill>
                <a:latin typeface="Consolas"/>
              </a:rPr>
              <a:t>signal-dbm </a:t>
            </a:r>
            <a:r>
              <a:rPr sz="1300">
                <a:solidFill>
                  <a:srgbClr val="58A6FF"/>
                </a:solidFill>
                <a:latin typeface="Consolas"/>
              </a:rPr>
              <a:t>{ type </a:t>
            </a:r>
            <a:r>
              <a:rPr sz="1300">
                <a:solidFill>
                  <a:srgbClr val="D29922"/>
                </a:solidFill>
                <a:latin typeface="Consolas"/>
              </a:rPr>
              <a:t>int8</a:t>
            </a:r>
            <a:r>
              <a:rPr sz="1300">
                <a:solidFill>
                  <a:srgbClr val="8B98A9"/>
                </a:solidFill>
                <a:latin typeface="Consolas"/>
              </a:rPr>
              <a:t>;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leaf </a:t>
            </a:r>
            <a:r>
              <a:rPr sz="1300">
                <a:solidFill>
                  <a:srgbClr val="E6EDF3"/>
                </a:solidFill>
                <a:latin typeface="Consolas"/>
              </a:rPr>
              <a:t>connected  </a:t>
            </a:r>
            <a:r>
              <a:rPr sz="1300">
                <a:solidFill>
                  <a:srgbClr val="58A6FF"/>
                </a:solidFill>
                <a:latin typeface="Consolas"/>
              </a:rPr>
              <a:t>{ type </a:t>
            </a:r>
            <a:r>
              <a:rPr sz="1300">
                <a:solidFill>
                  <a:srgbClr val="D29922"/>
                </a:solidFill>
                <a:latin typeface="Consolas"/>
              </a:rPr>
              <a:t>boolean</a:t>
            </a:r>
            <a:r>
              <a:rPr sz="1300">
                <a:solidFill>
                  <a:srgbClr val="8B98A9"/>
                </a:solidFill>
                <a:latin typeface="Consolas"/>
              </a:rPr>
              <a:t>;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8B98A9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8B98A9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600200"/>
            <a:ext cx="4343400" cy="214884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600200"/>
            <a:ext cx="73152" cy="21488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2" y="1764792"/>
            <a:ext cx="3886200" cy="1874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Vendor-neutral </a:t>
            </a:r>
            <a:r>
              <a:rPr sz="1300" b="0">
                <a:solidFill>
                  <a:srgbClr val="8B98A9"/>
                </a:solidFill>
                <a:latin typeface="Segoe UI"/>
              </a:rPr>
              <a:t>contract for every node.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Constraints </a:t>
            </a:r>
            <a:r>
              <a:rPr sz="1300" b="0">
                <a:solidFill>
                  <a:srgbClr val="8B98A9"/>
                </a:solidFill>
                <a:latin typeface="Segoe UI"/>
              </a:rPr>
              <a:t>(ranges, patterns) enforced on write.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config false </a:t>
            </a:r>
            <a:r>
              <a:rPr sz="1300" b="0">
                <a:solidFill>
                  <a:srgbClr val="8B98A9"/>
                </a:solidFill>
                <a:latin typeface="Segoe UI"/>
              </a:rPr>
              <a:t>marks read-only operational state.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1">
                <a:solidFill>
                  <a:srgbClr val="E6EDF3"/>
                </a:solidFill>
                <a:latin typeface="Segoe UI"/>
              </a:rPr>
              <a:t>One model </a:t>
            </a:r>
            <a:r>
              <a:rPr sz="1300" b="0">
                <a:solidFill>
                  <a:srgbClr val="8B98A9"/>
                </a:solidFill>
                <a:latin typeface="Segoe UI"/>
              </a:rPr>
              <a:t>— NETCONF upstream, CORECONF 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931920"/>
            <a:ext cx="4343400" cy="292608"/>
          </a:xfrm>
          <a:prstGeom prst="roundRect">
            <a:avLst>
              <a:gd name="adj" fmla="val 12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100" b="1">
                <a:solidFill>
                  <a:srgbClr val="8B98A9"/>
                </a:solidFill>
                <a:latin typeface="Consolas"/>
              </a:rPr>
              <a:t>example-wifi-ap@2026-10-05.sid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4242816"/>
            <a:ext cx="4343400" cy="1929384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8B98A9"/>
                </a:solidFill>
                <a:latin typeface="Consolas"/>
              </a:rPr>
              <a:t># .sid file assigns numeric SIDs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wifi-ap</a:t>
            </a:r>
            <a:r>
              <a:rPr sz="1300">
                <a:solidFill>
                  <a:srgbClr val="8B98A9"/>
                </a:solidFill>
                <a:latin typeface="Consolas"/>
              </a:rPr>
              <a:t>     → </a:t>
            </a:r>
            <a:r>
              <a:rPr sz="1300">
                <a:solidFill>
                  <a:srgbClr val="3FB950"/>
                </a:solidFill>
                <a:latin typeface="Consolas"/>
              </a:rPr>
              <a:t>70010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channel</a:t>
            </a:r>
            <a:r>
              <a:rPr sz="1300">
                <a:solidFill>
                  <a:srgbClr val="8B98A9"/>
                </a:solidFill>
                <a:latin typeface="Consolas"/>
              </a:rPr>
              <a:t>   → </a:t>
            </a:r>
            <a:r>
              <a:rPr sz="1300">
                <a:solidFill>
                  <a:srgbClr val="3FB950"/>
                </a:solidFill>
                <a:latin typeface="Consolas"/>
              </a:rPr>
              <a:t>70015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latency</a:t>
            </a:r>
            <a:r>
              <a:rPr sz="1300">
                <a:solidFill>
                  <a:srgbClr val="8B98A9"/>
                </a:solidFill>
                <a:latin typeface="Consolas"/>
              </a:rPr>
              <a:t>   → </a:t>
            </a:r>
            <a:r>
              <a:rPr sz="1300">
                <a:solidFill>
                  <a:srgbClr val="3FB950"/>
                </a:solidFill>
                <a:latin typeface="Consolas"/>
              </a:rPr>
              <a:t>70017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state</a:t>
            </a:r>
            <a:r>
              <a:rPr sz="1300">
                <a:solidFill>
                  <a:srgbClr val="8B98A9"/>
                </a:solidFill>
                <a:latin typeface="Consolas"/>
              </a:rPr>
              <a:t>     → </a:t>
            </a:r>
            <a:r>
              <a:rPr sz="1300">
                <a:solidFill>
                  <a:srgbClr val="3FB950"/>
                </a:solidFill>
                <a:latin typeface="Consolas"/>
              </a:rPr>
              <a:t>70018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device</a:t>
            </a:r>
            <a:r>
              <a:rPr sz="1300">
                <a:solidFill>
                  <a:srgbClr val="8B98A9"/>
                </a:solidFill>
                <a:latin typeface="Consolas"/>
              </a:rPr>
              <a:t>    → </a:t>
            </a:r>
            <a:r>
              <a:rPr sz="1300">
                <a:solidFill>
                  <a:srgbClr val="3FB950"/>
                </a:solidFill>
                <a:latin typeface="Consolas"/>
              </a:rPr>
              <a:t>70020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mac</a:t>
            </a:r>
            <a:r>
              <a:rPr sz="1300">
                <a:solidFill>
                  <a:srgbClr val="8B98A9"/>
                </a:solidFill>
                <a:latin typeface="Consolas"/>
              </a:rPr>
              <a:t>      → </a:t>
            </a:r>
            <a:r>
              <a:rPr sz="1300">
                <a:solidFill>
                  <a:srgbClr val="3FB950"/>
                </a:solidFill>
                <a:latin typeface="Consolas"/>
              </a:rPr>
              <a:t>70021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Same instance data, three encodings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Set the AP latency target to 35 ms — identical semantics, very different byte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949440" cy="292608"/>
          </a:xfrm>
          <a:prstGeom prst="roundRect">
            <a:avLst>
              <a:gd name="adj" fmla="val 12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100" b="1">
                <a:solidFill>
                  <a:srgbClr val="8B98A9"/>
                </a:solidFill>
                <a:latin typeface="Consolas"/>
              </a:rPr>
              <a:t>NETCONF — edit-config (XML)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56816"/>
            <a:ext cx="6949440" cy="1655064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&lt;rpc message-id="101"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8B98A9"/>
                </a:solidFill>
                <a:latin typeface="Consolas"/>
              </a:rPr>
              <a:t>     xmlns="urn:ietf:params:xml:ns:netconf:base:1.0"&gt;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&lt;edit-config&gt;&lt;target&gt;&lt;running/&gt;&lt;/target&gt;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&lt;config&gt;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&lt;wifi-ap xmlns="urn:example:wifi-ap"&gt;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&lt;latency&gt;</a:t>
            </a:r>
            <a:r>
              <a:rPr sz="1250">
                <a:solidFill>
                  <a:srgbClr val="D29922"/>
                </a:solidFill>
                <a:latin typeface="Consolas"/>
              </a:rPr>
              <a:t>35</a:t>
            </a:r>
            <a:r>
              <a:rPr sz="1250">
                <a:solidFill>
                  <a:srgbClr val="E6EDF3"/>
                </a:solidFill>
                <a:latin typeface="Consolas"/>
              </a:rPr>
              <a:t>&lt;/latency&gt;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&lt;/wifi-ap&gt;&lt;/config&gt;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&lt;/edit-config&gt;&lt;/rpc&gt;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6949440" cy="292608"/>
          </a:xfrm>
          <a:prstGeom prst="roundRect">
            <a:avLst>
              <a:gd name="adj" fmla="val 12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100" b="1">
                <a:solidFill>
                  <a:srgbClr val="8B98A9"/>
                </a:solidFill>
                <a:latin typeface="Consolas"/>
              </a:rPr>
              <a:t>CORECONF — iPATCH (CBOR + SID)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05656"/>
            <a:ext cx="6949440" cy="1700784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8B98A9"/>
                </a:solidFill>
                <a:latin typeface="Consolas"/>
              </a:rPr>
              <a:t>iPATCH /c   Content-Format: application/yang-instances+cbor-seq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CBOR (diagnostic):  </a:t>
            </a:r>
            <a:r>
              <a:rPr sz="1250">
                <a:solidFill>
                  <a:srgbClr val="3FB950"/>
                </a:solidFill>
                <a:latin typeface="Consolas"/>
              </a:rPr>
              <a:t>{70010: {70017: 35}}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</a:t>
            </a:r>
            <a:r>
              <a:rPr sz="1250">
                <a:solidFill>
                  <a:srgbClr val="8B98A9"/>
                </a:solidFill>
                <a:latin typeface="Consolas"/>
              </a:rPr>
              <a:t>  │       └ latency value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</a:t>
            </a:r>
            <a:r>
              <a:rPr sz="1250">
                <a:solidFill>
                  <a:srgbClr val="8B98A9"/>
                </a:solidFill>
                <a:latin typeface="Consolas"/>
              </a:rPr>
              <a:t>  └ wifi-ap &gt; latency SID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CBOR (hex):  </a:t>
            </a:r>
            <a:r>
              <a:rPr sz="1250">
                <a:solidFill>
                  <a:srgbClr val="3FB950"/>
                </a:solidFill>
                <a:latin typeface="Consolas"/>
              </a:rPr>
              <a:t>A1 1A0001117A A1 1A00011181 1823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645920"/>
            <a:ext cx="3886200" cy="416052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783080"/>
            <a:ext cx="3474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Payload size (real bytes)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86000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Consolas"/>
              </a:rPr>
              <a:t>NETCONF (XML)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560320"/>
            <a:ext cx="3429000" cy="310896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560320"/>
            <a:ext cx="3429000" cy="310896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907792"/>
            <a:ext cx="3429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215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429000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onsolas"/>
              </a:rPr>
              <a:t>CORECONF (CBOR/SID)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703320"/>
            <a:ext cx="3429000" cy="310896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703320"/>
            <a:ext cx="223283" cy="3108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050792"/>
            <a:ext cx="3429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14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572000"/>
            <a:ext cx="3063240" cy="1005840"/>
          </a:xfrm>
          <a:prstGeom prst="roundRect">
            <a:avLst>
              <a:gd name="adj" fmla="val 12000"/>
            </a:avLst>
          </a:prstGeom>
          <a:solidFill>
            <a:srgbClr val="19212E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681728"/>
            <a:ext cx="3063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FB950"/>
                </a:solidFill>
                <a:latin typeface="Segoe UI"/>
              </a:rPr>
              <a:t>15.4×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193792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smaller payload (215 B → 14 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Processing "set latency = 35 ms" across the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A single manager action cascades down four nodes — NETCONF upstream, CORECONF to the device.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993392"/>
            <a:ext cx="950976" cy="950976"/>
          </a:xfrm>
          <a:prstGeom prst="ellipse">
            <a:avLst/>
          </a:prstGeom>
          <a:solidFill>
            <a:srgbClr val="121823"/>
          </a:solidFill>
          <a:ln w="317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58A6FF"/>
                </a:solidFill>
              </a:rP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7180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Mgmt 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18688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NETCONF mgr</a:t>
            </a:r>
          </a:p>
        </p:txBody>
      </p:sp>
      <p:sp>
        <p:nvSpPr>
          <p:cNvPr id="9" name="Oval 8"/>
          <p:cNvSpPr/>
          <p:nvPr/>
        </p:nvSpPr>
        <p:spPr>
          <a:xfrm>
            <a:off x="3730752" y="1993392"/>
            <a:ext cx="950976" cy="950976"/>
          </a:xfrm>
          <a:prstGeom prst="ellipse">
            <a:avLst/>
          </a:prstGeom>
          <a:solidFill>
            <a:srgbClr val="121823"/>
          </a:solidFill>
          <a:ln w="3175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A371F7"/>
                </a:solidFill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7180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18688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802.3</a:t>
            </a:r>
          </a:p>
        </p:txBody>
      </p:sp>
      <p:sp>
        <p:nvSpPr>
          <p:cNvPr id="12" name="Oval 11"/>
          <p:cNvSpPr/>
          <p:nvPr/>
        </p:nvSpPr>
        <p:spPr>
          <a:xfrm>
            <a:off x="6656832" y="1993392"/>
            <a:ext cx="950976" cy="950976"/>
          </a:xfrm>
          <a:prstGeom prst="ellipse">
            <a:avLst/>
          </a:prstGeom>
          <a:solidFill>
            <a:srgbClr val="121823"/>
          </a:solidFill>
          <a:ln w="317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3FB950"/>
                </a:solidFill>
              </a:rPr>
              <a:t>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7180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Wi-Fi 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18688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coap:/c</a:t>
            </a:r>
          </a:p>
        </p:txBody>
      </p:sp>
      <p:sp>
        <p:nvSpPr>
          <p:cNvPr id="15" name="Oval 14"/>
          <p:cNvSpPr/>
          <p:nvPr/>
        </p:nvSpPr>
        <p:spPr>
          <a:xfrm>
            <a:off x="9582912" y="1993392"/>
            <a:ext cx="950976" cy="950976"/>
          </a:xfrm>
          <a:prstGeom prst="ellipse">
            <a:avLst/>
          </a:prstGeom>
          <a:solidFill>
            <a:srgbClr val="121823"/>
          </a:solidFill>
          <a:ln w="317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D29922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71800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218688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Consolas"/>
              </a:rPr>
              <a:t>CORECONF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847088" y="2386584"/>
            <a:ext cx="1792224" cy="164592"/>
          </a:xfrm>
          <a:prstGeom prst="rightArrow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1901952"/>
            <a:ext cx="179222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Consolas"/>
              </a:rPr>
              <a:t>NETCONF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2633472"/>
            <a:ext cx="179222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B98A9"/>
                </a:solidFill>
                <a:latin typeface="Consolas"/>
              </a:rPr>
              <a:t>edit-config · XML · 215 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73168" y="2386584"/>
            <a:ext cx="1792224" cy="164592"/>
          </a:xfrm>
          <a:prstGeom prst="rightArrow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901952"/>
            <a:ext cx="179222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Consolas"/>
              </a:rPr>
              <a:t>NETCONF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633472"/>
            <a:ext cx="179222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B98A9"/>
                </a:solidFill>
                <a:latin typeface="Consolas"/>
              </a:rPr>
              <a:t>edit-config · XML · 215 B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699248" y="2386584"/>
            <a:ext cx="1792224" cy="164592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1901952"/>
            <a:ext cx="179222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onsolas"/>
              </a:rPr>
              <a:t>CORECONF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633472"/>
            <a:ext cx="179222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B98A9"/>
                </a:solidFill>
                <a:latin typeface="Consolas"/>
              </a:rPr>
              <a:t>iPATCH · CBOR/SID · 14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2182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2697480" cy="45720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78808"/>
            <a:ext cx="2423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1 · Station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63440"/>
            <a:ext cx="24231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Manager issues edit-config setting wifi-ap/latency = 35 (XML over SSH).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411480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21823"/>
          </a:solidFill>
          <a:ln w="1270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0712" y="4114800"/>
            <a:ext cx="2697480" cy="45720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4178808"/>
            <a:ext cx="2423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371F7"/>
                </a:solidFill>
                <a:latin typeface="Segoe UI"/>
              </a:rPr>
              <a:t>2 · Switch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663440"/>
            <a:ext cx="24231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Validates against YANG, forwards the same edit-config to the AP (NETCONF).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4" y="411480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218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2784" y="4114800"/>
            <a:ext cx="2697480" cy="45720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178808"/>
            <a:ext cx="2423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3 · Access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663440"/>
            <a:ext cx="24231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Translates to CORECONF: iPATCH /c with {70010:{70017:35}} (CBOR/SID).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34856" y="411480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21823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4856" y="4114800"/>
            <a:ext cx="2697480" cy="457200"/>
          </a:xfrm>
          <a:prstGeom prst="rect">
            <a:avLst/>
          </a:prstGeom>
          <a:solidFill>
            <a:srgbClr val="19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6" y="4178808"/>
            <a:ext cx="2423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4 · Device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016" y="4663440"/>
            <a:ext cx="24231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Applies the leaf, replies 2.04 Changed; ack propagates back up the chain.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Why CORECONF for constrained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Built for the IoT edge: tiny payloads, no TCP, no XML parser.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21945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21945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64792"/>
            <a:ext cx="498348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📦  Tiny payloads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CBOR + numeric SIDs replace verbose XML tag names.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15× smaller on the wire in this demo (215 B → 14 B).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Fits a single UDP datagram — no fragmentation.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21945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73152" cy="21945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64792"/>
            <a:ext cx="498348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D29922"/>
                </a:solidFill>
                <a:latin typeface="Segoe UI"/>
              </a:rPr>
              <a:t>🔋  Low power &amp; memory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No TCP/TLS session state to maintain.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No XML/JSON parser needed on the device.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Less airtime → longer battery life on radios.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440680" cy="21945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73152" cy="219456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142231"/>
            <a:ext cx="498348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📡  Lossy-network friendly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CoAP over UDP tolerates intermittent links.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Confirmable messages give lightweight reliability.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OSCORE (RFC 8613) secures without a TLS handshake.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440680" cy="219456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73152" cy="21945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142231"/>
            <a:ext cx="498348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🔁  Same model, no rework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Reuse existing YANG modules unchanged.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SIDs are a deterministic numeric mapping (RFC 9595).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•  </a:t>
            </a:r>
            <a:r>
              <a:rPr sz="1300" b="0">
                <a:solidFill>
                  <a:srgbClr val="E6EDF3"/>
                </a:solidFill>
                <a:latin typeface="Segoe UI"/>
              </a:rPr>
              <a:t>Tooling validates the same constraints end to 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Value of a hybrid YANG + NETCONF/CORECONF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8A9"/>
                </a:solidFill>
                <a:latin typeface="Segoe UI"/>
              </a:rPr>
              <a:t>Model once; choose the protocol that fits each hop.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9922"/>
                </a:solidFill>
                <a:latin typeface="Segoe UI"/>
              </a:rPr>
              <a:t>One set of YANG models  (RFC 7950 + NMDA, RFC 8342)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331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>
                <a:solidFill>
                  <a:srgbClr val="A371F7"/>
                </a:solidFill>
                <a:latin typeface="Consolas"/>
              </a:rPr>
              <a:t>example-switch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331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>
                <a:solidFill>
                  <a:srgbClr val="3FB950"/>
                </a:solidFill>
                <a:latin typeface="Consolas"/>
              </a:rPr>
              <a:t>example-wifi-ap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331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>
                <a:solidFill>
                  <a:srgbClr val="D29922"/>
                </a:solidFill>
                <a:latin typeface="Consolas"/>
              </a:rPr>
              <a:t>example-device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3246120"/>
            <a:ext cx="1097280" cy="201168"/>
          </a:xfrm>
          <a:prstGeom prst="rightArrow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72400" y="3246120"/>
            <a:ext cx="1097280" cy="201168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1823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67328"/>
            <a:ext cx="50292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0883E"/>
                </a:solidFill>
                <a:latin typeface="Segoe UI"/>
              </a:rPr>
              <a:t>Core / managed network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NETCONF + RESTCONF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Rich transactions, candidate datastores,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mature tooling for switches &amp; routers.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5760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18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67328"/>
            <a:ext cx="50292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Constrained edge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CORECONF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CBOR/SID over CoAP for battery- and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bandwidth-limited IoT endpoints.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04688"/>
            <a:ext cx="106070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Takeaway:  </a:t>
            </a:r>
            <a:r>
              <a:rPr sz="1300" b="0">
                <a:solidFill>
                  <a:srgbClr val="E6EDF3"/>
                </a:solidFill>
                <a:latin typeface="Segoe UI"/>
              </a:rPr>
              <a:t>one data model, one skill set, one validation pipeline — </a:t>
            </a:r>
            <a:r>
              <a:rPr sz="1300" b="1">
                <a:solidFill>
                  <a:srgbClr val="E6EDF3"/>
                </a:solidFill>
                <a:latin typeface="Segoe UI"/>
              </a:rPr>
              <a:t>open IETF standards, no vendor lock-in, and the right encoding on every hop.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YANG + NETCONF / RESTCONF / CORECONF  ·  802 management-chain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87168"/>
            <a:ext cx="12191695" cy="54864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Thanks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4320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0883E"/>
                </a:solidFill>
                <a:latin typeface="Segoe UI"/>
              </a:rPr>
              <a:t>One data model, the right protocol on every hop.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6035040" cy="1463040"/>
          </a:xfrm>
          <a:prstGeom prst="roundRect">
            <a:avLst>
              <a:gd name="adj" fmla="val 6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749039"/>
            <a:ext cx="91440" cy="14630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50207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6EDF3"/>
                </a:solidFill>
                <a:latin typeface="Segoe UI"/>
              </a:rPr>
              <a:t>Scott Mansfield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590287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29922"/>
                </a:solidFill>
                <a:latin typeface="Segoe UI"/>
              </a:rPr>
              <a:t>✉  </a:t>
            </a:r>
            <a:r>
              <a:rPr sz="1700" b="0">
                <a:solidFill>
                  <a:srgbClr val="58A6FF"/>
                </a:solidFill>
                <a:latin typeface="Consolas"/>
              </a:rPr>
              <a:t>scott.mansfield@ericsson.com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5321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300" b="1">
                <a:solidFill>
                  <a:srgbClr val="F0883E"/>
                </a:solidFill>
                <a:latin typeface="Consolas"/>
              </a:rPr>
              <a:t>NETCONF · XML/SSH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55321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300" b="1">
                <a:solidFill>
                  <a:srgbClr val="58A6FF"/>
                </a:solidFill>
                <a:latin typeface="Consolas"/>
              </a:rPr>
              <a:t>RESTCONF · JSON/HTTP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96128" y="55321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300" b="1">
                <a:solidFill>
                  <a:srgbClr val="3FB950"/>
                </a:solidFill>
                <a:latin typeface="Consolas"/>
              </a:rPr>
              <a:t>CORECONF · CBOR/CoAP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