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28016" cy="54864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E6EDF3"/>
                </a:solidFill>
                <a:latin typeface="Segoe UI"/>
              </a:rPr>
              <a:t>Option A — pyang-style text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8A9"/>
                </a:solidFill>
                <a:latin typeface="Segoe UI"/>
              </a:rPr>
              <a:t>example-wifi-ap  ·  the familiar `pyang -f tree` rendering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7498079" cy="310896"/>
          </a:xfrm>
          <a:prstGeom prst="roundRect">
            <a:avLst>
              <a:gd name="adj" fmla="val 10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l"/>
            <a:r>
              <a:rPr sz="1100" b="1">
                <a:solidFill>
                  <a:srgbClr val="8B98A9"/>
                </a:solidFill>
                <a:latin typeface="Consolas"/>
              </a:rPr>
              <a:t>pyang -f tree  example-wifi-ap@2026-10-05.yang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7498079" cy="4599432"/>
          </a:xfrm>
          <a:prstGeom prst="rect">
            <a:avLst/>
          </a:prstGeom>
          <a:solidFill>
            <a:srgbClr val="060A0F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2400" rIns="101600" tIns="101600" bIns="1016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module: example-wifi-ap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+--rw </a:t>
            </a:r>
            <a:r>
              <a:rPr sz="1500">
                <a:solidFill>
                  <a:srgbClr val="58A6FF"/>
                </a:solidFill>
                <a:latin typeface="Consolas"/>
              </a:rPr>
              <a:t>wifi-ap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name        </a:t>
            </a:r>
            <a:r>
              <a:rPr sz="1500">
                <a:solidFill>
                  <a:srgbClr val="D29922"/>
                </a:solidFill>
                <a:latin typeface="Consolas"/>
              </a:rPr>
              <a:t>string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enabled     </a:t>
            </a:r>
            <a:r>
              <a:rPr sz="1500">
                <a:solidFill>
                  <a:srgbClr val="D29922"/>
                </a:solidFill>
                <a:latin typeface="Consolas"/>
              </a:rPr>
              <a:t>boolean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ssid        </a:t>
            </a:r>
            <a:r>
              <a:rPr sz="1500">
                <a:solidFill>
                  <a:srgbClr val="D29922"/>
                </a:solidFill>
                <a:latin typeface="Consolas"/>
              </a:rPr>
              <a:t>string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band        </a:t>
            </a:r>
            <a:r>
              <a:rPr sz="1500">
                <a:solidFill>
                  <a:srgbClr val="D29922"/>
                </a:solidFill>
                <a:latin typeface="Consolas"/>
              </a:rPr>
              <a:t>wifi-band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channel     </a:t>
            </a:r>
            <a:r>
              <a:rPr sz="1500">
                <a:solidFill>
                  <a:srgbClr val="D29922"/>
                </a:solidFill>
                <a:latin typeface="Consolas"/>
              </a:rPr>
              <a:t>uint8</a:t>
            </a:r>
            <a:r>
              <a:rPr sz="1500">
                <a:solidFill>
                  <a:srgbClr val="8B98A9"/>
                </a:solidFill>
                <a:latin typeface="Consolas"/>
              </a:rPr>
              <a:t>  [1..196]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tx-power    </a:t>
            </a:r>
            <a:r>
              <a:rPr sz="1500">
                <a:solidFill>
                  <a:srgbClr val="D29922"/>
                </a:solidFill>
                <a:latin typeface="Consolas"/>
              </a:rPr>
              <a:t>uint8</a:t>
            </a:r>
            <a:r>
              <a:rPr sz="1500">
                <a:solidFill>
                  <a:srgbClr val="8B98A9"/>
                </a:solidFill>
                <a:latin typeface="Consolas"/>
              </a:rPr>
              <a:t>  [1..30] dBm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latency     </a:t>
            </a:r>
            <a:r>
              <a:rPr sz="1500">
                <a:solidFill>
                  <a:srgbClr val="D29922"/>
                </a:solidFill>
                <a:latin typeface="Consolas"/>
              </a:rPr>
              <a:t>uint32</a:t>
            </a:r>
            <a:r>
              <a:rPr sz="1500">
                <a:solidFill>
                  <a:srgbClr val="8B98A9"/>
                </a:solidFill>
                <a:latin typeface="Consolas"/>
              </a:rPr>
              <a:t> [0..10000] ms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+--ro </a:t>
            </a:r>
            <a:r>
              <a:rPr sz="1500">
                <a:solidFill>
                  <a:srgbClr val="58A6FF"/>
                </a:solidFill>
                <a:latin typeface="Consolas"/>
              </a:rPr>
              <a:t>state       </a:t>
            </a:r>
            <a:r>
              <a:rPr sz="1500">
                <a:solidFill>
                  <a:srgbClr val="D29922"/>
                </a:solidFill>
                <a:latin typeface="Consolas"/>
              </a:rPr>
              <a:t>identityref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device* </a:t>
            </a:r>
            <a:r>
              <a:rPr sz="1500">
                <a:solidFill>
                  <a:srgbClr val="3FB950"/>
                </a:solidFill>
                <a:latin typeface="Consolas"/>
              </a:rPr>
              <a:t>[mac]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mac           </a:t>
            </a:r>
            <a:r>
              <a:rPr sz="1500">
                <a:solidFill>
                  <a:srgbClr val="D29922"/>
                </a:solidFill>
                <a:latin typeface="Consolas"/>
              </a:rPr>
              <a:t>string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hostname      </a:t>
            </a:r>
            <a:r>
              <a:rPr sz="1500">
                <a:solidFill>
                  <a:srgbClr val="D29922"/>
                </a:solidFill>
                <a:latin typeface="Consolas"/>
              </a:rPr>
              <a:t>string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ip-address    </a:t>
            </a:r>
            <a:r>
              <a:rPr sz="1500">
                <a:solidFill>
                  <a:srgbClr val="D29922"/>
                </a:solidFill>
                <a:latin typeface="Consolas"/>
              </a:rPr>
              <a:t>string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signal-dbm    </a:t>
            </a:r>
            <a:r>
              <a:rPr sz="1500">
                <a:solidFill>
                  <a:srgbClr val="D29922"/>
                </a:solidFill>
                <a:latin typeface="Consolas"/>
              </a:rPr>
              <a:t>int8</a:t>
            </a:r>
            <a:r>
              <a:rPr sz="1500">
                <a:solidFill>
                  <a:srgbClr val="8B98A9"/>
                </a:solidFill>
                <a:latin typeface="Consolas"/>
              </a:rPr>
              <a:t>  dBm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8B98A9"/>
                </a:solidFill>
                <a:latin typeface="Consolas"/>
              </a:rPr>
              <a:t>        +--rw </a:t>
            </a:r>
            <a:r>
              <a:rPr sz="1500">
                <a:solidFill>
                  <a:srgbClr val="58A6FF"/>
                </a:solidFill>
                <a:latin typeface="Consolas"/>
              </a:rPr>
              <a:t>connected     </a:t>
            </a:r>
            <a:r>
              <a:rPr sz="1500">
                <a:solidFill>
                  <a:srgbClr val="D29922"/>
                </a:solidFill>
                <a:latin typeface="Consolas"/>
              </a:rPr>
              <a:t>boolean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37360"/>
            <a:ext cx="3383280" cy="4206240"/>
          </a:xfrm>
          <a:prstGeom prst="roundRect">
            <a:avLst>
              <a:gd name="adj" fmla="val 4000"/>
            </a:avLst>
          </a:prstGeom>
          <a:solidFill>
            <a:srgbClr val="121823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74519"/>
            <a:ext cx="301752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Reading the tree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+--rw</a:t>
            </a:r>
            <a:r>
              <a:rPr sz="1300" b="0">
                <a:solidFill>
                  <a:srgbClr val="8B98A9"/>
                </a:solidFill>
                <a:latin typeface="Segoe UI"/>
              </a:rPr>
              <a:t>  read-write (config)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+--ro</a:t>
            </a:r>
            <a:r>
              <a:rPr sz="1300" b="0">
                <a:solidFill>
                  <a:srgbClr val="8B98A9"/>
                </a:solidFill>
                <a:latin typeface="Segoe UI"/>
              </a:rPr>
              <a:t>  read-only (state)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Consolas"/>
              </a:rPr>
              <a:t>* [key]</a:t>
            </a:r>
            <a:r>
              <a:rPr sz="1300" b="0">
                <a:solidFill>
                  <a:srgbClr val="8B98A9"/>
                </a:solidFill>
                <a:latin typeface="Segoe UI"/>
              </a:rPr>
              <a:t> a keyed 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B98A9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Pros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Native YANG convention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Compact, whole model at a glance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Copy-paste from pyang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8B98A9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883E"/>
                </a:solidFill>
                <a:latin typeface="Segoe UI"/>
              </a:rPr>
              <a:t>Cons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Mono-font ASCII, less ‘designed’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• Dense for non-YANG audiences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Preview A · text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28016" cy="54864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E6EDF3"/>
                </a:solidFill>
                <a:latin typeface="Segoe UI"/>
              </a:rPr>
              <a:t>Option B — PlantUML-style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8A9"/>
                </a:solidFill>
                <a:latin typeface="Segoe UI"/>
              </a:rPr>
              <a:t>example-wifi-ap  ·  rendered as structured boxes (container + list)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754880" cy="3429000"/>
          </a:xfrm>
          <a:prstGeom prst="roundRect">
            <a:avLst>
              <a:gd name="adj" fmla="val 3000"/>
            </a:avLst>
          </a:prstGeom>
          <a:solidFill>
            <a:srgbClr val="121823"/>
          </a:solidFill>
          <a:ln w="2222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91056"/>
            <a:ext cx="475488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8120B"/>
                </a:solidFill>
                <a:latin typeface="Segoe UI"/>
              </a:rPr>
              <a:t>« container »  wifi-ap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name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enabled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boolean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ssid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band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wifi-band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channel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uint8 [1..196]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2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tx-power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uint8 dBm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latency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uint32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17136"/>
            <a:ext cx="438912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~ </a:t>
            </a:r>
            <a:r>
              <a:rPr sz="1300" b="1">
                <a:solidFill>
                  <a:srgbClr val="E6EDF3"/>
                </a:solidFill>
                <a:latin typeface="Consolas"/>
              </a:rPr>
              <a:t>state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identityref  {ro}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194560"/>
            <a:ext cx="4572000" cy="2651760"/>
          </a:xfrm>
          <a:prstGeom prst="roundRect">
            <a:avLst>
              <a:gd name="adj" fmla="val 3000"/>
            </a:avLst>
          </a:prstGeom>
          <a:solidFill>
            <a:srgbClr val="121823"/>
          </a:solidFill>
          <a:ln w="2222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31136"/>
            <a:ext cx="45720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0D04"/>
                </a:solidFill>
                <a:latin typeface="Segoe UI"/>
              </a:rPr>
              <a:t>« list » 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🔑 </a:t>
            </a:r>
            <a:r>
              <a:rPr sz="1300" b="1">
                <a:solidFill>
                  <a:srgbClr val="E6EDF3"/>
                </a:solidFill>
                <a:latin typeface="Consolas"/>
              </a:rPr>
              <a:t>mac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string  {key}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0896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hostname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7472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ip-address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048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signal-dbm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int8 dBm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4206240" cy="3017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+ </a:t>
            </a:r>
            <a:r>
              <a:rPr sz="1300" b="1">
                <a:solidFill>
                  <a:srgbClr val="E6EDF3"/>
                </a:solidFill>
                <a:latin typeface="Consolas"/>
              </a:rPr>
              <a:t>connected</a:t>
            </a:r>
            <a:r>
              <a:rPr sz="1300" b="0">
                <a:solidFill>
                  <a:srgbClr val="D29922"/>
                </a:solidFill>
                <a:latin typeface="Consolas"/>
              </a:rPr>
              <a:t>  : boolean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291840"/>
            <a:ext cx="1188720" cy="25400"/>
          </a:xfrm>
          <a:prstGeom prst="rect">
            <a:avLst/>
          </a:prstGeom>
          <a:solidFill>
            <a:srgbClr val="8B9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376672" y="3182112"/>
            <a:ext cx="219456" cy="219456"/>
          </a:xfrm>
          <a:prstGeom prst="diamond">
            <a:avLst/>
          </a:prstGeom>
          <a:solidFill>
            <a:srgbClr val="3FB950"/>
          </a:solidFill>
          <a:ln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880360"/>
            <a:ext cx="1188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B98A9"/>
                </a:solidFill>
                <a:latin typeface="Consolas"/>
              </a:rPr>
              <a:t>1  →  0..*  (key: mac)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074920"/>
            <a:ext cx="4572000" cy="1280160"/>
          </a:xfrm>
          <a:prstGeom prst="roundRect">
            <a:avLst>
              <a:gd name="adj" fmla="val 6000"/>
            </a:avLst>
          </a:prstGeom>
          <a:solidFill>
            <a:srgbClr val="19212E"/>
          </a:solidFill>
          <a:ln w="12700">
            <a:solidFill>
              <a:srgbClr val="27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5166360"/>
            <a:ext cx="420624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Pros</a:t>
            </a:r>
            <a:r>
              <a:rPr sz="1200" b="0">
                <a:solidFill>
                  <a:srgbClr val="8B98A9"/>
                </a:solidFill>
                <a:latin typeface="Segoe UI"/>
              </a:rPr>
              <a:t>  slide-native, visually clean, scales to big screens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0883E"/>
                </a:solidFill>
                <a:latin typeface="Segoe UI"/>
              </a:rPr>
              <a:t>Cons</a:t>
            </a:r>
            <a:r>
              <a:rPr sz="1200" b="0">
                <a:solidFill>
                  <a:srgbClr val="8B98A9"/>
                </a:solidFill>
                <a:latin typeface="Segoe UI"/>
              </a:rPr>
              <a:t>  not standard YANG notation; needs a build step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Note</a:t>
            </a:r>
            <a:r>
              <a:rPr sz="1200" b="0">
                <a:solidFill>
                  <a:srgbClr val="8B98A9"/>
                </a:solidFill>
                <a:latin typeface="Segoe UI"/>
              </a:rPr>
              <a:t>  rendered here as PPT shapes mimicking PlantUML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Preview B · PlantUML-style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